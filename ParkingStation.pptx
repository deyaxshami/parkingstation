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3F233-4887-5779-8D63-5FD17B35B8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8870C7-4542-4F20-41A8-00C16A6AA5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D68BF4-36CD-B95A-902E-DECEF44A0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0DE61-7B3C-4BF7-B972-B31E90B7FA74}" type="datetimeFigureOut">
              <a:rPr lang="en-DE" smtClean="0"/>
              <a:t>10/06/2026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F3833-932D-B09F-8CF7-283390A7B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63556-ABB9-50D4-D05F-8E4A3D087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29335-B114-4B37-9E35-8CD08AB9747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39047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021A8-A192-9705-2011-7E3E5B1DFC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16412-CA47-B187-EF2F-B0D6B66A00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DAD691-20DE-3C3C-6CF5-9D434BA0D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0DE61-7B3C-4BF7-B972-B31E90B7FA74}" type="datetimeFigureOut">
              <a:rPr lang="en-DE" smtClean="0"/>
              <a:t>10/06/2026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0FD15-D4BB-78EF-220D-AB17ECBE4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639492-B166-018D-FE33-1815B72BE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29335-B114-4B37-9E35-8CD08AB9747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45763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D6CF7-3347-3997-DCFB-1DE96102A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038D8A-4F70-8067-0EC5-2B7B4254F8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DBD39E-E27D-7C7B-3C7A-89927C263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0DE61-7B3C-4BF7-B972-B31E90B7FA74}" type="datetimeFigureOut">
              <a:rPr lang="en-DE" smtClean="0"/>
              <a:t>10/06/2026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DBDEC3-0F51-F546-A2E7-25E24955C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9C0F9-4E7C-94A3-51FF-CACF6DBA4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29335-B114-4B37-9E35-8CD08AB9747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05190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42F9F-C0A8-F4BD-6549-627307230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65EC4-B09A-3072-E65B-8FEB472328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E46EB6-16E6-CECF-2A36-53561279A2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CEC41F-A77E-17A7-81E9-D619DD30E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0DE61-7B3C-4BF7-B972-B31E90B7FA74}" type="datetimeFigureOut">
              <a:rPr lang="en-DE" smtClean="0"/>
              <a:t>10/06/2026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362771-B1A9-A44D-9047-E8484ABF6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8DFC2-8C9E-305A-86B5-0AB7B9852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29335-B114-4B37-9E35-8CD08AB9747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81320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391E1-C9C7-B5AD-C779-11DD814F3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559EDE-9F72-9802-7478-F8A9D68D24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934332-9A61-D958-F10D-EFE9C33B52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BD2435-70A0-E447-3AD9-AB481D921F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2631E3-59A6-C61E-5E66-5CC8058212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F86024-1830-9CEE-9ED3-DB32EDDD3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0DE61-7B3C-4BF7-B972-B31E90B7FA74}" type="datetimeFigureOut">
              <a:rPr lang="en-DE" smtClean="0"/>
              <a:t>10/06/2026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3D196A6-00DC-9030-A022-C39B73C07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3F06787-BBF0-BC63-64C0-26655B48F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29335-B114-4B37-9E35-8CD08AB9747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9904801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1CC79-E411-7330-7667-3F8D33B73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F21CF5-65B5-7BB7-008E-1C7D9CC360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0DE61-7B3C-4BF7-B972-B31E90B7FA74}" type="datetimeFigureOut">
              <a:rPr lang="en-DE" smtClean="0"/>
              <a:t>10/06/2026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13AC49-95F4-C363-3567-99FF39126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AAC271-483A-27DB-2136-420221088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29335-B114-4B37-9E35-8CD08AB9747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086469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40EDDC-AB0B-8436-12A8-9F003C83B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0DE61-7B3C-4BF7-B972-B31E90B7FA74}" type="datetimeFigureOut">
              <a:rPr lang="en-DE" smtClean="0"/>
              <a:t>10/06/2026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E3A0D1-65B6-CA4D-CCC1-090F1B4D6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F23A1B-43B6-91CF-9BA4-016C1D1E2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29335-B114-4B37-9E35-8CD08AB9747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62874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A9B8E-2304-F1B2-9521-A3DC31E2E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1E15D-E338-84BF-B23C-C148B44445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7A6543-EFD7-281C-0B0D-973AD45AE6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178F83-BDEB-43AB-469D-37BE5A3BA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0DE61-7B3C-4BF7-B972-B31E90B7FA74}" type="datetimeFigureOut">
              <a:rPr lang="en-DE" smtClean="0"/>
              <a:t>10/06/2026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C99BAF-6586-9BDE-C7E9-5F65C09CB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E1864E-43D4-4FCF-87C6-5A70BB805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29335-B114-4B37-9E35-8CD08AB9747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91835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4C922-3866-8326-5657-8A7F015CA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BD1D62B-7163-A98B-F9B1-17706DC4FC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F3B4CF-701D-4E66-1F05-5B5A684431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FEDC75-8B45-1987-3F07-2635A5A8A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0DE61-7B3C-4BF7-B972-B31E90B7FA74}" type="datetimeFigureOut">
              <a:rPr lang="en-DE" smtClean="0"/>
              <a:t>10/06/2026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4C973E-48FF-58D9-4EE2-2CC60158A5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821E43-4F49-426E-9F76-DDCF5EAEB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29335-B114-4B37-9E35-8CD08AB9747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433267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14FD2-E38B-6AB8-859D-1A02B7661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5D8FEE-D97B-6E7B-BEE4-BB0FAAD17D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D48DF7-729F-F502-252E-336154475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0DE61-7B3C-4BF7-B972-B31E90B7FA74}" type="datetimeFigureOut">
              <a:rPr lang="en-DE" smtClean="0"/>
              <a:t>10/06/2026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1E5AD4-E967-5EF0-F0A0-F82D580E1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F6752-6939-E2B1-634C-9AF4CD453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29335-B114-4B37-9E35-8CD08AB9747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012176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09774B-BC40-AC1F-E1BE-79BF8D0471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7F563D-9035-1C25-F5EF-B7889ACBE5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44C540-CDD9-92FE-5E8E-C7AC9F715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D0DE61-7B3C-4BF7-B972-B31E90B7FA74}" type="datetimeFigureOut">
              <a:rPr lang="en-DE" smtClean="0"/>
              <a:t>10/06/2026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D60010-A6C6-2F5B-DCFC-15F0E45EC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6BD58E-7BDD-CFA3-E452-462CF32967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29335-B114-4B37-9E35-8CD08AB97471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860077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70F343A-7AC3-D484-2D0D-7FEC1F9C6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294330-DD0A-F9CC-1601-E312CE120E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ADB090-BE86-9DBF-1ABC-ED69ED9AD5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D0DE61-7B3C-4BF7-B972-B31E90B7FA74}" type="datetimeFigureOut">
              <a:rPr lang="en-DE" smtClean="0"/>
              <a:t>10/06/2026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E9112A-8C65-CE56-AD0F-00D8E1D600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256B4A-00AA-6E98-00DF-D07786D423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A29335-B114-4B37-9E35-8CD08AB97471}" type="slidenum">
              <a:rPr lang="en-DE" smtClean="0"/>
              <a:t>‹#›</a:t>
            </a:fld>
            <a:endParaRPr lang="en-DE"/>
          </a:p>
        </p:txBody>
      </p:sp>
      <p:sp>
        <p:nvSpPr>
          <p:cNvPr id="900" name="FooterLine"/>
          <p:cNvSpPr/>
          <p:nvPr/>
        </p:nvSpPr>
        <p:spPr>
          <a:xfrm>
            <a:off x="457200" y="6629400"/>
            <a:ext cx="8229600" cy="22860"/>
          </a:xfrm>
          <a:prstGeom prst="rect">
            <a:avLst/>
          </a:prstGeom>
          <a:solidFill>
            <a:srgbClr val="0B5FA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MotifBlue"/>
          <p:cNvSpPr/>
          <p:nvPr/>
        </p:nvSpPr>
        <p:spPr>
          <a:xfrm>
            <a:off x="8915400" y="6515100"/>
            <a:ext cx="137160" cy="137160"/>
          </a:xfrm>
          <a:prstGeom prst="rect">
            <a:avLst/>
          </a:prstGeom>
          <a:solidFill>
            <a:srgbClr val="2E9E5B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55703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A243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33414F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8D898-AFAB-5EAF-1B58-409CBFACA1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5969000" cy="1397000"/>
          </a:xfrm>
        </p:spPr>
        <p:txBody>
          <a:bodyPr anchor="b" anchorCtr="0"/>
          <a:lstStyle/>
          <a:p>
            <a:r>
              <a:rPr lang="en-US"/>
              <a:t>Parking Station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FB197F-0613-1615-8A15-7DD225DE30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3403600"/>
            <a:ext cx="5969000" cy="1016000"/>
          </a:xfrm>
        </p:spPr>
        <p:txBody>
          <a:bodyPr>
            <a:normAutofit/>
          </a:bodyPr>
          <a:lstStyle/>
          <a:p>
            <a:r>
              <a:rPr lang="de-DE" sz="1600"/>
              <a:t>STM32-Prototyp zur Parkplatz-Erkennung mit IR-Sensoren, Frei-LEDs und Web-Serial-Dashboard</a:t>
            </a:r>
            <a:endParaRPr lang="en-DE" sz="16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E8944F-89B5-4B9A-8511-5E2C71A57985}"/>
              </a:ext>
            </a:extLst>
          </p:cNvPr>
          <p:cNvSpPr txBox="1"/>
          <p:nvPr/>
        </p:nvSpPr>
        <p:spPr>
          <a:xfrm>
            <a:off x="711200" y="1422400"/>
            <a:ext cx="5969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0B5FA5"/>
                </a:solidFill>
              </a:rPr>
              <a:t>SCHULPROJEKT · MIKROCONTROLLER · STM32G431KB</a:t>
            </a:r>
            <a:endParaRPr lang="en-DE" sz="1300" b="1">
              <a:solidFill>
                <a:srgbClr val="0B5FA5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F7D264-6F3E-4EAF-9FB2-E9B98282B6F5}"/>
              </a:ext>
            </a:extLst>
          </p:cNvPr>
          <p:cNvSpPr txBox="1"/>
          <p:nvPr/>
        </p:nvSpPr>
        <p:spPr>
          <a:xfrm>
            <a:off x="711200" y="4724400"/>
            <a:ext cx="59690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414F"/>
                </a:solidFill>
              </a:rPr>
              <a:t>Mohammad Dyaa Addin Shami
Nordhorn KBS  ·  Abgabe 20.05.2026</a:t>
            </a:r>
            <a:endParaRPr lang="en-DE" sz="1400">
              <a:solidFill>
                <a:srgbClr val="33414F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0CF4A6-4CF2-45AA-B97A-1B9F2F84B2FE}"/>
              </a:ext>
            </a:extLst>
          </p:cNvPr>
          <p:cNvSpPr/>
          <p:nvPr/>
        </p:nvSpPr>
        <p:spPr>
          <a:xfrm>
            <a:off x="711200" y="4521200"/>
            <a:ext cx="685800" cy="50800"/>
          </a:xfrm>
          <a:prstGeom prst="rect">
            <a:avLst/>
          </a:prstGeom>
          <a:solidFill>
            <a:srgbClr val="2E9E5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DE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35EDD2CF-DB76-FBF4-499F-B689DAF2FD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1200" y="1625600"/>
            <a:ext cx="4445000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4163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C90A1-0CEC-1346-6139-66DD592C5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Projektziel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29F6C4-B2FE-5270-9EC5-B91161CC708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676400"/>
            <a:ext cx="5588000" cy="4572000"/>
          </a:xfrm>
        </p:spPr>
        <p:txBody>
          <a:bodyPr>
            <a:normAutofit/>
          </a:bodyPr>
          <a:lstStyle/>
          <a:p>
            <a:r>
              <a:rPr lang="de-DE" sz="1700" dirty="0"/>
              <a:t>Funktionsfähiges Modell einer Parking Station
Zwei Parkplätze A12 und A41 mit IR-Sensoren überwacht
Grüne LED pro Platz zeigt „frei“ direkt an
Mikrocontroller filtert kurze Störungen und meldet den Zustand als JSON
Web-Oberfläche zeigt die Live-Plätze samt Dummy-Plätzen</a:t>
            </a:r>
            <a:endParaRPr lang="en-DE" sz="17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814A8C-22B6-48D0-A29F-83D3DD32B8B5}"/>
              </a:ext>
            </a:extLst>
          </p:cNvPr>
          <p:cNvSpPr txBox="1"/>
          <p:nvPr/>
        </p:nvSpPr>
        <p:spPr>
          <a:xfrm>
            <a:off x="6604000" y="5486400"/>
            <a:ext cx="49022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i="1">
                <a:solidFill>
                  <a:srgbClr val="6C7A89"/>
                </a:solidFill>
              </a:rPr>
              <a:t>Modellauto im Sensorbereich von Parkplatz A12</a:t>
            </a:r>
            <a:endParaRPr lang="en-DE" sz="1400" i="1">
              <a:solidFill>
                <a:srgbClr val="6C7A89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FBA50DC-DC58-F46C-CFAA-95DF1F510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0" y="1778000"/>
            <a:ext cx="4902200" cy="367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362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46C91-9F89-2409-5043-6F4C07876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Handlungsergebnis</a:t>
            </a:r>
            <a:endParaRPr lang="en-DE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028130C-6024-4D00-9BF8-5041D6AA2012}"/>
              </a:ext>
            </a:extLst>
          </p:cNvPr>
          <p:cNvSpPr/>
          <p:nvPr/>
        </p:nvSpPr>
        <p:spPr>
          <a:xfrm>
            <a:off x="685800" y="1905000"/>
            <a:ext cx="3403600" cy="3810000"/>
          </a:xfrm>
          <a:prstGeom prst="roundRect">
            <a:avLst/>
          </a:prstGeom>
          <a:solidFill>
            <a:srgbClr val="F4F7FB"/>
          </a:solidFill>
          <a:ln w="12700" cap="flat" cmpd="sng" algn="ctr">
            <a:solidFill>
              <a:srgbClr val="D8E1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D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4B392A-A7AC-4975-8B7B-94E08C7FE90C}"/>
              </a:ext>
            </a:extLst>
          </p:cNvPr>
          <p:cNvSpPr/>
          <p:nvPr/>
        </p:nvSpPr>
        <p:spPr>
          <a:xfrm>
            <a:off x="685800" y="1905000"/>
            <a:ext cx="3403600" cy="127000"/>
          </a:xfrm>
          <a:prstGeom prst="rect">
            <a:avLst/>
          </a:prstGeom>
          <a:solidFill>
            <a:srgbClr val="0B5FA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D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FE98C5-8824-4870-B541-6294DB9D9456}"/>
              </a:ext>
            </a:extLst>
          </p:cNvPr>
          <p:cNvSpPr txBox="1"/>
          <p:nvPr/>
        </p:nvSpPr>
        <p:spPr>
          <a:xfrm>
            <a:off x="914400" y="2895600"/>
            <a:ext cx="29464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0B5FA5"/>
                </a:solidFill>
              </a:rPr>
              <a:t>Hardware</a:t>
            </a:r>
            <a:endParaRPr lang="en-DE" sz="2000" b="1">
              <a:solidFill>
                <a:srgbClr val="0B5FA5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B0D6A5-997F-408A-A404-92E4C4DC9183}"/>
              </a:ext>
            </a:extLst>
          </p:cNvPr>
          <p:cNvSpPr txBox="1"/>
          <p:nvPr/>
        </p:nvSpPr>
        <p:spPr>
          <a:xfrm>
            <a:off x="914400" y="3429000"/>
            <a:ext cx="2946400" cy="190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500">
                <a:solidFill>
                  <a:srgbClr val="33414F"/>
                </a:solidFill>
              </a:rPr>
              <a:t>NUCLEO-G431KB mit zwei IR-Sensoren und zwei grünen Frei-LEDs für die Plätze A12 und A41.</a:t>
            </a:r>
            <a:endParaRPr lang="en-DE" sz="1500">
              <a:solidFill>
                <a:srgbClr val="33414F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BA278A9-4C78-4796-979B-F5F4F8AA5B2B}"/>
              </a:ext>
            </a:extLst>
          </p:cNvPr>
          <p:cNvSpPr/>
          <p:nvPr/>
        </p:nvSpPr>
        <p:spPr>
          <a:xfrm>
            <a:off x="4394200" y="1905000"/>
            <a:ext cx="3403600" cy="3810000"/>
          </a:xfrm>
          <a:prstGeom prst="roundRect">
            <a:avLst/>
          </a:prstGeom>
          <a:solidFill>
            <a:srgbClr val="F4F7FB"/>
          </a:solidFill>
          <a:ln w="12700" cap="flat" cmpd="sng" algn="ctr">
            <a:solidFill>
              <a:srgbClr val="D8E1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D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CDF1E2-59CF-4860-81AA-1EE0614C0653}"/>
              </a:ext>
            </a:extLst>
          </p:cNvPr>
          <p:cNvSpPr/>
          <p:nvPr/>
        </p:nvSpPr>
        <p:spPr>
          <a:xfrm>
            <a:off x="4394200" y="1905000"/>
            <a:ext cx="3403600" cy="127000"/>
          </a:xfrm>
          <a:prstGeom prst="rect">
            <a:avLst/>
          </a:prstGeom>
          <a:solidFill>
            <a:srgbClr val="0E7C9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D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337F1E-1A9C-4433-90A2-127831B71123}"/>
              </a:ext>
            </a:extLst>
          </p:cNvPr>
          <p:cNvSpPr txBox="1"/>
          <p:nvPr/>
        </p:nvSpPr>
        <p:spPr>
          <a:xfrm>
            <a:off x="4622800" y="2895600"/>
            <a:ext cx="29464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0E7C9D"/>
                </a:solidFill>
              </a:rPr>
              <a:t>Firmware</a:t>
            </a:r>
            <a:endParaRPr lang="en-DE" sz="2000" b="1">
              <a:solidFill>
                <a:srgbClr val="0E7C9D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76A3D4-9E49-4F85-80DF-D37F4A53AD4F}"/>
              </a:ext>
            </a:extLst>
          </p:cNvPr>
          <p:cNvSpPr txBox="1"/>
          <p:nvPr/>
        </p:nvSpPr>
        <p:spPr>
          <a:xfrm>
            <a:off x="4622800" y="3429000"/>
            <a:ext cx="2946400" cy="190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500">
                <a:solidFill>
                  <a:srgbClr val="33414F"/>
                </a:solidFill>
              </a:rPr>
              <a:t>C-Code in Core/Src/main.c: wertet die Sensoren aus, sendet JSON und empfängt serielle Befehle.</a:t>
            </a:r>
            <a:endParaRPr lang="en-DE" sz="1500">
              <a:solidFill>
                <a:srgbClr val="33414F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2447846-D139-49B8-9B0F-9CB0C18A0D60}"/>
              </a:ext>
            </a:extLst>
          </p:cNvPr>
          <p:cNvSpPr/>
          <p:nvPr/>
        </p:nvSpPr>
        <p:spPr>
          <a:xfrm>
            <a:off x="8102600" y="1905000"/>
            <a:ext cx="3403600" cy="3810000"/>
          </a:xfrm>
          <a:prstGeom prst="roundRect">
            <a:avLst/>
          </a:prstGeom>
          <a:solidFill>
            <a:srgbClr val="F4F7FB"/>
          </a:solidFill>
          <a:ln w="12700" cap="flat" cmpd="sng" algn="ctr">
            <a:solidFill>
              <a:srgbClr val="D8E1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DE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541C102-0B32-4495-B9C3-1E1274640CF8}"/>
              </a:ext>
            </a:extLst>
          </p:cNvPr>
          <p:cNvSpPr/>
          <p:nvPr/>
        </p:nvSpPr>
        <p:spPr>
          <a:xfrm>
            <a:off x="8102600" y="1905000"/>
            <a:ext cx="3403600" cy="127000"/>
          </a:xfrm>
          <a:prstGeom prst="rect">
            <a:avLst/>
          </a:prstGeom>
          <a:solidFill>
            <a:srgbClr val="2E9E5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DE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9DE2EB-04F4-4B71-86AF-E054BB9CDD46}"/>
              </a:ext>
            </a:extLst>
          </p:cNvPr>
          <p:cNvSpPr txBox="1"/>
          <p:nvPr/>
        </p:nvSpPr>
        <p:spPr>
          <a:xfrm>
            <a:off x="8331200" y="2895600"/>
            <a:ext cx="29464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000" b="1">
                <a:solidFill>
                  <a:srgbClr val="2E9E5B"/>
                </a:solidFill>
              </a:rPr>
              <a:t>Bedienoberfläche</a:t>
            </a:r>
            <a:endParaRPr lang="en-DE" sz="2000" b="1">
              <a:solidFill>
                <a:srgbClr val="2E9E5B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A0C089-48D4-44BC-8B20-293F0F463D4E}"/>
              </a:ext>
            </a:extLst>
          </p:cNvPr>
          <p:cNvSpPr txBox="1"/>
          <p:nvPr/>
        </p:nvSpPr>
        <p:spPr>
          <a:xfrm>
            <a:off x="8331200" y="3429000"/>
            <a:ext cx="2946400" cy="190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500">
                <a:solidFill>
                  <a:srgbClr val="33414F"/>
                </a:solidFill>
              </a:rPr>
              <a:t>parking-station.html als lokales Dashboard mit Web-Serial-Verbindung im Browser.</a:t>
            </a:r>
            <a:endParaRPr lang="en-DE" sz="1500">
              <a:solidFill>
                <a:srgbClr val="33414F"/>
              </a:solidFill>
            </a:endParaRPr>
          </a:p>
        </p:txBody>
      </p:sp>
      <p:pic>
        <p:nvPicPr>
          <p:cNvPr id="15" name="Graphic 15" descr="Prozessor-Icon Hardware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08200" y="2184400"/>
            <a:ext cx="558800" cy="558800"/>
          </a:xfrm>
          <a:prstGeom prst="rect">
            <a:avLst/>
          </a:prstGeom>
        </p:spPr>
      </p:pic>
      <p:pic>
        <p:nvPicPr>
          <p:cNvPr id="16" name="Graphic 16" descr="Browser-Icon Dashboard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0" y="2184400"/>
            <a:ext cx="5588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1055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B41CB-77CB-FAFD-3005-DE54A22E9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Das Modell – Aufbau aus Karton</a:t>
            </a:r>
            <a:endParaRPr lang="en-DE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93A829-9519-4C9D-88C8-25BFB3F0CC0B}"/>
              </a:ext>
            </a:extLst>
          </p:cNvPr>
          <p:cNvSpPr txBox="1"/>
          <p:nvPr/>
        </p:nvSpPr>
        <p:spPr>
          <a:xfrm>
            <a:off x="685800" y="1524000"/>
            <a:ext cx="108204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500">
                <a:solidFill>
                  <a:srgbClr val="33414F"/>
                </a:solidFill>
              </a:rPr>
              <a:t>Zwei getrennte Parkbereiche, grüne Frei-LEDs und die NUCLEO-Elektronik – komplett im selbstgebauten Kartongehäuse.</a:t>
            </a:r>
            <a:endParaRPr lang="en-DE" sz="1500">
              <a:solidFill>
                <a:srgbClr val="33414F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4D3FF2-B679-44AC-88EC-2E9AE1862D17}"/>
              </a:ext>
            </a:extLst>
          </p:cNvPr>
          <p:cNvSpPr txBox="1"/>
          <p:nvPr/>
        </p:nvSpPr>
        <p:spPr>
          <a:xfrm>
            <a:off x="685800" y="4813300"/>
            <a:ext cx="34036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6C7A89"/>
                </a:solidFill>
              </a:rPr>
              <a:t>Außenansicht des Gehäuses</a:t>
            </a:r>
            <a:endParaRPr lang="en-DE" sz="1400">
              <a:solidFill>
                <a:srgbClr val="6C7A89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702F2D-612D-423D-96ED-4A37071206E0}"/>
              </a:ext>
            </a:extLst>
          </p:cNvPr>
          <p:cNvSpPr txBox="1"/>
          <p:nvPr/>
        </p:nvSpPr>
        <p:spPr>
          <a:xfrm>
            <a:off x="4394200" y="4813300"/>
            <a:ext cx="34036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6C7A89"/>
                </a:solidFill>
              </a:rPr>
              <a:t>Innenansicht mit beiden grünen Frei-LEDs</a:t>
            </a:r>
            <a:endParaRPr lang="en-DE" sz="1400">
              <a:solidFill>
                <a:srgbClr val="6C7A89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2002CF-026B-422A-BB36-F9B8E57F456A}"/>
              </a:ext>
            </a:extLst>
          </p:cNvPr>
          <p:cNvSpPr txBox="1"/>
          <p:nvPr/>
        </p:nvSpPr>
        <p:spPr>
          <a:xfrm>
            <a:off x="8102600" y="4813300"/>
            <a:ext cx="34036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6C7A89"/>
                </a:solidFill>
              </a:rPr>
              <a:t>Rückseite mit NUCLEO-Board und Verkabelung</a:t>
            </a:r>
            <a:endParaRPr lang="en-DE" sz="1400">
              <a:solidFill>
                <a:srgbClr val="6C7A89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0517D4-C7C4-4B87-BB9C-CAAC0A8B1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84400"/>
            <a:ext cx="3403600" cy="25527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4A75735-62D6-7C0F-8383-97E7ED6896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4200" y="2184400"/>
            <a:ext cx="3403600" cy="25527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09D61B4-9132-1B1E-1A5E-46F3F2DAD2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2600" y="2184400"/>
            <a:ext cx="3403600" cy="255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298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DEE41-8689-B9FC-D15F-C4F8A8262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Hardware-Komponenten</a:t>
            </a:r>
            <a:endParaRPr lang="en-DE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B7283E0-44B0-456B-A84F-7412485F69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5093378"/>
              </p:ext>
            </p:extLst>
          </p:nvPr>
        </p:nvGraphicFramePr>
        <p:xfrm>
          <a:off x="685800" y="1905000"/>
          <a:ext cx="10820400" cy="317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600996533"/>
                    </a:ext>
                  </a:extLst>
                </a:gridCol>
                <a:gridCol w="5207000">
                  <a:extLst>
                    <a:ext uri="{9D8B030D-6E8A-4147-A177-3AD203B41FA5}">
                      <a16:colId xmlns:a16="http://schemas.microsoft.com/office/drawing/2014/main" val="2924358744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3876895008"/>
                    </a:ext>
                  </a:extLst>
                </a:gridCol>
              </a:tblGrid>
              <a:tr h="396875">
                <a:tc>
                  <a:txBody>
                    <a:bodyPr/>
                    <a:lstStyle/>
                    <a:p>
                      <a:pPr algn="l"/>
                      <a:r>
                        <a:rPr lang="en-DE" sz="1500" b="1">
                          <a:solidFill>
                            <a:srgbClr val="FFFFFF"/>
                          </a:solidFill>
                          <a:latin typeface="Trebuchet MS"/>
                        </a:rPr>
                        <a:t>Komponente</a:t>
                      </a:r>
                    </a:p>
                  </a:txBody>
                  <a:tcPr anchor="ctr"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DE" sz="1500" b="1">
                          <a:solidFill>
                            <a:srgbClr val="FFFFFF"/>
                          </a:solidFill>
                          <a:latin typeface="Trebuchet MS"/>
                        </a:rPr>
                        <a:t>Aufgabe im Projekt</a:t>
                      </a:r>
                    </a:p>
                  </a:txBody>
                  <a:tcPr anchor="ctr"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DE" sz="1500" b="1">
                          <a:solidFill>
                            <a:srgbClr val="FFFFFF"/>
                          </a:solidFill>
                          <a:latin typeface="Trebuchet MS"/>
                        </a:rPr>
                        <a:t>Hinweis</a:t>
                      </a:r>
                    </a:p>
                  </a:txBody>
                  <a:tcPr anchor="ctr">
                    <a:solidFill>
                      <a:srgbClr val="0B5F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1201850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algn="l"/>
                      <a:r>
                        <a:rPr lang="en-DE" sz="1400" b="1">
                          <a:solidFill>
                            <a:srgbClr val="1A2433"/>
                          </a:solidFill>
                        </a:rPr>
                        <a:t>NUCLEO-G431KB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DE" sz="1400">
                          <a:solidFill>
                            <a:srgbClr val="1A2433"/>
                          </a:solidFill>
                        </a:rPr>
                        <a:t>Mikrocontroller-Board &amp; ST-LINK USB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DE" sz="1400">
                          <a:solidFill>
                            <a:srgbClr val="1A2433"/>
                          </a:solidFill>
                        </a:rPr>
                        <a:t>STM32G4-Board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3607977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algn="l"/>
                      <a:r>
                        <a:rPr lang="en-DE" sz="1400" b="1">
                          <a:solidFill>
                            <a:srgbClr val="1A2433"/>
                          </a:solidFill>
                        </a:rPr>
                        <a:t>STM32G431KBT6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DE" sz="1400">
                          <a:solidFill>
                            <a:srgbClr val="1A2433"/>
                          </a:solidFill>
                        </a:rPr>
                        <a:t>Firmware, GPIO-Logik, UART-Kommunikation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DE" sz="1400">
                          <a:solidFill>
                            <a:srgbClr val="1A2433"/>
                          </a:solidFill>
                        </a:rPr>
                        <a:t>Systemtakt 170 MHz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0554697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algn="l"/>
                      <a:r>
                        <a:rPr lang="en-DE" sz="1400" b="1">
                          <a:solidFill>
                            <a:srgbClr val="1A2433"/>
                          </a:solidFill>
                        </a:rPr>
                        <a:t>IR-Sensor A12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DE" sz="1400">
                          <a:solidFill>
                            <a:srgbClr val="1A2433"/>
                          </a:solidFill>
                        </a:rPr>
                        <a:t>Erkennt Belegung von Parkplatz A12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DE" sz="1400">
                          <a:solidFill>
                            <a:srgbClr val="1A2433"/>
                          </a:solidFill>
                        </a:rPr>
                        <a:t>Aktives Low-Signal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2170212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algn="l"/>
                      <a:r>
                        <a:rPr lang="en-DE" sz="1400" b="1">
                          <a:solidFill>
                            <a:srgbClr val="1A2433"/>
                          </a:solidFill>
                        </a:rPr>
                        <a:t>IR-Sensor A41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DE" sz="1400">
                          <a:solidFill>
                            <a:srgbClr val="1A2433"/>
                          </a:solidFill>
                        </a:rPr>
                        <a:t>Erkennt Belegung von Parkplatz A41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DE" sz="1400">
                          <a:solidFill>
                            <a:srgbClr val="1A2433"/>
                          </a:solidFill>
                        </a:rPr>
                        <a:t>Aktives Low-Signal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2723847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algn="l"/>
                      <a:r>
                        <a:rPr lang="en-DE" sz="1400" b="1">
                          <a:solidFill>
                            <a:srgbClr val="1A2433"/>
                          </a:solidFill>
                        </a:rPr>
                        <a:t>Grüne LED A12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DE" sz="1400">
                          <a:solidFill>
                            <a:srgbClr val="1A2433"/>
                          </a:solidFill>
                        </a:rPr>
                        <a:t>Zeigt an, ob A12 frei ist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DE" sz="1400">
                          <a:solidFill>
                            <a:srgbClr val="1A2433"/>
                          </a:solidFill>
                        </a:rPr>
                        <a:t>High = LED an = frei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735246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algn="l"/>
                      <a:r>
                        <a:rPr lang="en-DE" sz="1400" b="1">
                          <a:solidFill>
                            <a:srgbClr val="1A2433"/>
                          </a:solidFill>
                        </a:rPr>
                        <a:t>Grüne LED A41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DE" sz="1400">
                          <a:solidFill>
                            <a:srgbClr val="1A2433"/>
                          </a:solidFill>
                        </a:rPr>
                        <a:t>Zeigt an, ob A41 frei ist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DE" sz="1400">
                          <a:solidFill>
                            <a:srgbClr val="1A2433"/>
                          </a:solidFill>
                        </a:rPr>
                        <a:t>High = LED an = frei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837561"/>
                  </a:ext>
                </a:extLst>
              </a:tr>
              <a:tr h="396875">
                <a:tc>
                  <a:txBody>
                    <a:bodyPr/>
                    <a:lstStyle/>
                    <a:p>
                      <a:pPr algn="l"/>
                      <a:r>
                        <a:rPr lang="en-DE" sz="1400" b="1">
                          <a:solidFill>
                            <a:srgbClr val="1A2433"/>
                          </a:solidFill>
                        </a:rPr>
                        <a:t>USB / ST-LINK VCP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DE" sz="1400">
                          <a:solidFill>
                            <a:srgbClr val="1A2433"/>
                          </a:solidFill>
                        </a:rPr>
                        <a:t>Strom, Programmierung &amp; serielle Daten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DE" sz="1400">
                          <a:solidFill>
                            <a:srgbClr val="1A2433"/>
                          </a:solidFill>
                        </a:rPr>
                        <a:t>COM-Port fürs Dashboard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0423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8191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6C935-903A-576B-504C-FC74850E9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Funktionsprinzip der Sensoren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7BE86-F384-38A9-87DF-53394A77FB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905000"/>
            <a:ext cx="6858000" cy="4191000"/>
          </a:xfrm>
        </p:spPr>
        <p:txBody>
          <a:bodyPr>
            <a:normAutofit/>
          </a:bodyPr>
          <a:lstStyle/>
          <a:p>
            <a:r>
              <a:rPr lang="de-DE" sz="1600"/>
              <a:t>IR-Sensoren werden als digitale Eingänge gelesen
Low-Signal am GPIO = erkannte Belegung (interner Pull-up: ohne Objekt bleibt der Eingang High = frei)
Jeder Sensor wird zweimal gelesen, mit 20 ms Abstand
Nur wenn beide Messungen eine Belegung zeigen, gilt der Platz als belegt – das filtert kurze Störspitzen
Ein offener oder abgezogener Sensor wirkt durch den Pull-up ebenfalls wie ein freier Platz</a:t>
            </a:r>
            <a:endParaRPr lang="en-DE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DF1907-F38F-418F-BD06-585FB1DAB22E}"/>
              </a:ext>
            </a:extLst>
          </p:cNvPr>
          <p:cNvSpPr txBox="1"/>
          <p:nvPr/>
        </p:nvSpPr>
        <p:spPr>
          <a:xfrm>
            <a:off x="7620000" y="5918200"/>
            <a:ext cx="34036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6C7A89"/>
                </a:solidFill>
              </a:rPr>
              <a:t>IR-Sensor – digitales Aktiv-Low-Signal</a:t>
            </a:r>
            <a:endParaRPr lang="en-DE" sz="1400" i="1">
              <a:solidFill>
                <a:srgbClr val="6C7A89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A18169-F912-3220-6E99-EED4D88E4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8600" y="1905000"/>
            <a:ext cx="2946400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463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1D08F-81AF-CC89-7363-38ADE9BCE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Pinbelegung</a:t>
            </a:r>
            <a:endParaRPr lang="en-DE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7C71B3D-5637-4DF9-A332-2486D02A08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2410552"/>
              </p:ext>
            </p:extLst>
          </p:nvPr>
        </p:nvGraphicFramePr>
        <p:xfrm>
          <a:off x="685800" y="1905000"/>
          <a:ext cx="10820400" cy="2667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1613559045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814593083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62812962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190677134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191997223"/>
                    </a:ext>
                  </a:extLst>
                </a:gridCol>
                <a:gridCol w="3149600">
                  <a:extLst>
                    <a:ext uri="{9D8B030D-6E8A-4147-A177-3AD203B41FA5}">
                      <a16:colId xmlns:a16="http://schemas.microsoft.com/office/drawing/2014/main" val="1309283709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DE"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Funktion</a:t>
                      </a:r>
                    </a:p>
                  </a:txBody>
                  <a:tcPr anchor="ctr"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DE"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Signal</a:t>
                      </a:r>
                    </a:p>
                  </a:txBody>
                  <a:tcPr anchor="ctr"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DE"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Pin</a:t>
                      </a:r>
                    </a:p>
                  </a:txBody>
                  <a:tcPr anchor="ctr"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DE"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Port</a:t>
                      </a:r>
                    </a:p>
                  </a:txBody>
                  <a:tcPr anchor="ctr"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DE"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Richtung</a:t>
                      </a:r>
                    </a:p>
                  </a:txBody>
                  <a:tcPr anchor="ctr"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DE"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Logik</a:t>
                      </a:r>
                    </a:p>
                  </a:txBody>
                  <a:tcPr anchor="ctr">
                    <a:solidFill>
                      <a:srgbClr val="0B5F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026852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DE" sz="1400">
                          <a:solidFill>
                            <a:srgbClr val="1A2433"/>
                          </a:solidFill>
                          <a:latin typeface="Segoe UI"/>
                          <a:cs typeface="Segoe UI"/>
                        </a:rPr>
                        <a:t>IR-Sensor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DE" sz="1400">
                          <a:solidFill>
                            <a:srgbClr val="1A2433"/>
                          </a:solidFill>
                          <a:latin typeface="Segoe UI"/>
                          <a:cs typeface="Segoe UI"/>
                        </a:rPr>
                        <a:t>A12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400">
                          <a:solidFill>
                            <a:srgbClr val="1A2433"/>
                          </a:solidFill>
                          <a:latin typeface="Segoe UI"/>
                          <a:cs typeface="Segoe UI"/>
                        </a:rPr>
                        <a:t>PA0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400">
                          <a:solidFill>
                            <a:srgbClr val="1A2433"/>
                          </a:solidFill>
                          <a:latin typeface="Segoe UI"/>
                          <a:cs typeface="Segoe UI"/>
                        </a:rPr>
                        <a:t>GPIOA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DE" sz="1400">
                          <a:solidFill>
                            <a:srgbClr val="1A2433"/>
                          </a:solidFill>
                          <a:latin typeface="Segoe UI"/>
                          <a:cs typeface="Segoe UI"/>
                        </a:rPr>
                        <a:t>Eingang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DE" sz="1400">
                          <a:solidFill>
                            <a:srgbClr val="1A2433"/>
                          </a:solidFill>
                          <a:latin typeface="Segoe UI"/>
                          <a:cs typeface="Segoe UI"/>
                        </a:rPr>
                        <a:t>Low = belegt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1457319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DE" sz="1400">
                          <a:solidFill>
                            <a:srgbClr val="1A2433"/>
                          </a:solidFill>
                          <a:latin typeface="Segoe UI"/>
                          <a:cs typeface="Segoe UI"/>
                        </a:rPr>
                        <a:t>IR-Sensor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DE" sz="1400">
                          <a:solidFill>
                            <a:srgbClr val="1A2433"/>
                          </a:solidFill>
                          <a:latin typeface="Segoe UI"/>
                          <a:cs typeface="Segoe UI"/>
                        </a:rPr>
                        <a:t>A41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400">
                          <a:solidFill>
                            <a:srgbClr val="1A2433"/>
                          </a:solidFill>
                          <a:latin typeface="Segoe UI"/>
                          <a:cs typeface="Segoe UI"/>
                        </a:rPr>
                        <a:t>PA1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400">
                          <a:solidFill>
                            <a:srgbClr val="1A2433"/>
                          </a:solidFill>
                          <a:latin typeface="Segoe UI"/>
                          <a:cs typeface="Segoe UI"/>
                        </a:rPr>
                        <a:t>GPIOA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DE" sz="1400">
                          <a:solidFill>
                            <a:srgbClr val="1A2433"/>
                          </a:solidFill>
                          <a:latin typeface="Segoe UI"/>
                          <a:cs typeface="Segoe UI"/>
                        </a:rPr>
                        <a:t>Eingang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DE" sz="1400">
                          <a:solidFill>
                            <a:srgbClr val="1A2433"/>
                          </a:solidFill>
                          <a:latin typeface="Segoe UI"/>
                          <a:cs typeface="Segoe UI"/>
                        </a:rPr>
                        <a:t>Low = belegt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32231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DE" sz="1400">
                          <a:solidFill>
                            <a:srgbClr val="1A2433"/>
                          </a:solidFill>
                          <a:latin typeface="Segoe UI"/>
                          <a:cs typeface="Segoe UI"/>
                        </a:rPr>
                        <a:t>Grüne Frei-LED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DE" sz="1400">
                          <a:solidFill>
                            <a:srgbClr val="1A2433"/>
                          </a:solidFill>
                          <a:latin typeface="Segoe UI"/>
                          <a:cs typeface="Segoe UI"/>
                        </a:rPr>
                        <a:t>A12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400">
                          <a:solidFill>
                            <a:srgbClr val="1A2433"/>
                          </a:solidFill>
                          <a:latin typeface="Segoe UI"/>
                          <a:cs typeface="Segoe UI"/>
                        </a:rPr>
                        <a:t>PA4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400">
                          <a:solidFill>
                            <a:srgbClr val="1A2433"/>
                          </a:solidFill>
                          <a:latin typeface="Segoe UI"/>
                          <a:cs typeface="Segoe UI"/>
                        </a:rPr>
                        <a:t>GPIOA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DE" sz="1400">
                          <a:solidFill>
                            <a:srgbClr val="1A2433"/>
                          </a:solidFill>
                          <a:latin typeface="Segoe UI"/>
                          <a:cs typeface="Segoe UI"/>
                        </a:rPr>
                        <a:t>Ausgang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DE" sz="1400">
                          <a:solidFill>
                            <a:srgbClr val="1A2433"/>
                          </a:solidFill>
                          <a:latin typeface="Segoe UI"/>
                          <a:cs typeface="Segoe UI"/>
                        </a:rPr>
                        <a:t>High = frei / LED 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347138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DE" sz="1400">
                          <a:solidFill>
                            <a:srgbClr val="1A2433"/>
                          </a:solidFill>
                          <a:latin typeface="Segoe UI"/>
                          <a:cs typeface="Segoe UI"/>
                        </a:rPr>
                        <a:t>Grüne Frei-LED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DE" sz="1400">
                          <a:solidFill>
                            <a:srgbClr val="1A2433"/>
                          </a:solidFill>
                          <a:latin typeface="Segoe UI"/>
                          <a:cs typeface="Segoe UI"/>
                        </a:rPr>
                        <a:t>A41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400">
                          <a:solidFill>
                            <a:srgbClr val="1A2433"/>
                          </a:solidFill>
                          <a:latin typeface="Segoe UI"/>
                          <a:cs typeface="Segoe UI"/>
                        </a:rPr>
                        <a:t>PA5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400">
                          <a:solidFill>
                            <a:srgbClr val="1A2433"/>
                          </a:solidFill>
                          <a:latin typeface="Segoe UI"/>
                          <a:cs typeface="Segoe UI"/>
                        </a:rPr>
                        <a:t>GPIOA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DE" sz="1400">
                          <a:solidFill>
                            <a:srgbClr val="1A2433"/>
                          </a:solidFill>
                          <a:latin typeface="Segoe UI"/>
                          <a:cs typeface="Segoe UI"/>
                        </a:rPr>
                        <a:t>Ausgang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DE" sz="1400">
                          <a:solidFill>
                            <a:srgbClr val="1A2433"/>
                          </a:solidFill>
                          <a:latin typeface="Segoe UI"/>
                          <a:cs typeface="Segoe UI"/>
                        </a:rPr>
                        <a:t>High = frei / LED an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578263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DE" sz="1400">
                          <a:solidFill>
                            <a:srgbClr val="1A2433"/>
                          </a:solidFill>
                          <a:latin typeface="Segoe UI"/>
                          <a:cs typeface="Segoe UI"/>
                        </a:rPr>
                        <a:t>Virtual COM TX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DE" sz="1400">
                          <a:solidFill>
                            <a:srgbClr val="1A2433"/>
                          </a:solidFill>
                          <a:latin typeface="Segoe UI"/>
                          <a:cs typeface="Segoe UI"/>
                        </a:rPr>
                        <a:t>ST-LINK VCP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400">
                          <a:solidFill>
                            <a:srgbClr val="1A2433"/>
                          </a:solidFill>
                          <a:latin typeface="Segoe UI"/>
                          <a:cs typeface="Segoe UI"/>
                        </a:rPr>
                        <a:t>PA2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400">
                          <a:solidFill>
                            <a:srgbClr val="1A2433"/>
                          </a:solidFill>
                          <a:latin typeface="Segoe UI"/>
                          <a:cs typeface="Segoe UI"/>
                        </a:rPr>
                        <a:t>GPIOA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DE" sz="1400">
                          <a:solidFill>
                            <a:srgbClr val="1A2433"/>
                          </a:solidFill>
                          <a:latin typeface="Segoe UI"/>
                          <a:cs typeface="Segoe UI"/>
                        </a:rPr>
                        <a:t>Alt. Function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DE" sz="1400">
                          <a:solidFill>
                            <a:srgbClr val="1A2433"/>
                          </a:solidFill>
                          <a:latin typeface="Segoe UI"/>
                          <a:cs typeface="Segoe UI"/>
                        </a:rPr>
                        <a:t>LPUART1 TX (BSP-COM1)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42055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algn="l"/>
                      <a:r>
                        <a:rPr lang="en-DE" sz="1400">
                          <a:solidFill>
                            <a:srgbClr val="1A2433"/>
                          </a:solidFill>
                          <a:latin typeface="Segoe UI"/>
                          <a:cs typeface="Segoe UI"/>
                        </a:rPr>
                        <a:t>Virtual COM RX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DE" sz="1400">
                          <a:solidFill>
                            <a:srgbClr val="1A2433"/>
                          </a:solidFill>
                          <a:latin typeface="Segoe UI"/>
                          <a:cs typeface="Segoe UI"/>
                        </a:rPr>
                        <a:t>ST-LINK VCP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400">
                          <a:solidFill>
                            <a:srgbClr val="1A2433"/>
                          </a:solidFill>
                          <a:latin typeface="Segoe UI"/>
                          <a:cs typeface="Segoe UI"/>
                        </a:rPr>
                        <a:t>PA3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DE" sz="1400">
                          <a:solidFill>
                            <a:srgbClr val="1A2433"/>
                          </a:solidFill>
                          <a:latin typeface="Segoe UI"/>
                          <a:cs typeface="Segoe UI"/>
                        </a:rPr>
                        <a:t>GPIOA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DE" sz="1400">
                          <a:solidFill>
                            <a:srgbClr val="1A2433"/>
                          </a:solidFill>
                          <a:latin typeface="Segoe UI"/>
                          <a:cs typeface="Segoe UI"/>
                        </a:rPr>
                        <a:t>Alt. Function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DE" sz="1400">
                          <a:solidFill>
                            <a:srgbClr val="1A2433"/>
                          </a:solidFill>
                          <a:latin typeface="Segoe UI"/>
                          <a:cs typeface="Segoe UI"/>
                        </a:rPr>
                        <a:t>LPUART1 RX (BSP-COM1)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747385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F7C2F814-0639-457B-A750-128FDD42B76E}"/>
              </a:ext>
            </a:extLst>
          </p:cNvPr>
          <p:cNvSpPr txBox="1"/>
          <p:nvPr/>
        </p:nvSpPr>
        <p:spPr>
          <a:xfrm>
            <a:off x="685800" y="5461000"/>
            <a:ext cx="108204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6C7A89"/>
                </a:solidFill>
              </a:rPr>
              <a:t>Debug über ST-LINK: SWDIO = PA13, SWCLK = PA14, SWO = PB3 (optional). PA6 / PA7 sind in der aktuellen Firmware ungenutzt.</a:t>
            </a:r>
            <a:endParaRPr lang="en-DE" sz="1400" i="1">
              <a:solidFill>
                <a:srgbClr val="6C7A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89178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3E128-E6EA-A69A-E361-B0F5A4ADA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Schaltplan / Verdrahtung</a:t>
            </a:r>
            <a:endParaRPr lang="en-DE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58A084-2DFD-48D5-AE97-5E7315BD4E95}"/>
              </a:ext>
            </a:extLst>
          </p:cNvPr>
          <p:cNvSpPr txBox="1"/>
          <p:nvPr/>
        </p:nvSpPr>
        <p:spPr>
          <a:xfrm>
            <a:off x="685800" y="1600200"/>
            <a:ext cx="381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250">
                <a:solidFill>
                  <a:srgbClr val="0B5FA5"/>
                </a:solidFill>
              </a:rPr>
              <a:t>1 · Erkennung: Sensor → Mikrocontroller → PC</a:t>
            </a:r>
            <a:endParaRPr lang="en-DE" sz="1250">
              <a:solidFill>
                <a:srgbClr val="0B5FA5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AD89838-97B3-4066-8FA1-DFE466B18121}"/>
              </a:ext>
            </a:extLst>
          </p:cNvPr>
          <p:cNvSpPr/>
          <p:nvPr/>
        </p:nvSpPr>
        <p:spPr>
          <a:xfrm>
            <a:off x="685800" y="2006600"/>
            <a:ext cx="2286000" cy="6604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0E7C9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A2433"/>
                </a:solidFill>
                <a:latin typeface="Segoe UI"/>
                <a:cs typeface="Segoe UI"/>
              </a:rPr>
              <a:t>IR-Sensor A12</a:t>
            </a:r>
            <a:endParaRPr lang="en-DE" sz="1400" b="1">
              <a:solidFill>
                <a:srgbClr val="1A2433"/>
              </a:solidFill>
              <a:latin typeface="Segoe UI"/>
              <a:cs typeface="Segoe UI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0591269-9AA1-4341-A9F8-8591D40EBDEA}"/>
              </a:ext>
            </a:extLst>
          </p:cNvPr>
          <p:cNvSpPr/>
          <p:nvPr/>
        </p:nvSpPr>
        <p:spPr>
          <a:xfrm>
            <a:off x="685800" y="2844800"/>
            <a:ext cx="2286000" cy="660400"/>
          </a:xfrm>
          <a:prstGeom prst="roundRect">
            <a:avLst/>
          </a:prstGeom>
          <a:solidFill>
            <a:srgbClr val="FFFFFF"/>
          </a:solidFill>
          <a:ln w="19050" cap="flat" cmpd="sng" algn="ctr">
            <a:solidFill>
              <a:srgbClr val="0E7C9D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A2433"/>
                </a:solidFill>
                <a:latin typeface="Segoe UI"/>
                <a:cs typeface="Segoe UI"/>
              </a:rPr>
              <a:t>IR-Sensor A41</a:t>
            </a:r>
            <a:endParaRPr lang="en-DE" sz="1400" b="1">
              <a:solidFill>
                <a:srgbClr val="1A2433"/>
              </a:solidFill>
              <a:latin typeface="Segoe UI"/>
              <a:cs typeface="Segoe UI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3AE106F-199D-49E5-B4BF-6451BA27424D}"/>
              </a:ext>
            </a:extLst>
          </p:cNvPr>
          <p:cNvSpPr/>
          <p:nvPr/>
        </p:nvSpPr>
        <p:spPr>
          <a:xfrm>
            <a:off x="4978400" y="2159000"/>
            <a:ext cx="2489200" cy="1270000"/>
          </a:xfrm>
          <a:prstGeom prst="roundRect">
            <a:avLst/>
          </a:prstGeom>
          <a:solidFill>
            <a:srgbClr val="0B5FA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500" b="1">
                <a:solidFill>
                  <a:srgbClr val="FFFFFF"/>
                </a:solidFill>
                <a:latin typeface="Segoe UI"/>
                <a:cs typeface="Segoe UI"/>
              </a:rPr>
              <a:t>NUCLEO-G431KB
STM32G431KBT6</a:t>
            </a:r>
            <a:endParaRPr lang="en-DE" sz="1500" b="1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EE8862F-23CD-44E5-9FB4-0D914DE0D16E}"/>
              </a:ext>
            </a:extLst>
          </p:cNvPr>
          <p:cNvSpPr/>
          <p:nvPr/>
        </p:nvSpPr>
        <p:spPr>
          <a:xfrm>
            <a:off x="9398000" y="2286000"/>
            <a:ext cx="2159000" cy="1016000"/>
          </a:xfrm>
          <a:prstGeom prst="roundRect">
            <a:avLst/>
          </a:prstGeom>
          <a:solidFill>
            <a:srgbClr val="33414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350">
                <a:solidFill>
                  <a:srgbClr val="FFFFFF"/>
                </a:solidFill>
                <a:latin typeface="Segoe UI"/>
                <a:cs typeface="Segoe UI"/>
              </a:rPr>
              <a:t>PC mit Chrome/Edge
oder Terminal</a:t>
            </a:r>
            <a:endParaRPr lang="en-DE" sz="1350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F6619F0E-33ED-4078-A6BA-D2A865E2F9DD}"/>
              </a:ext>
            </a:extLst>
          </p:cNvPr>
          <p:cNvSpPr/>
          <p:nvPr/>
        </p:nvSpPr>
        <p:spPr>
          <a:xfrm>
            <a:off x="3098800" y="2235200"/>
            <a:ext cx="1752600" cy="228600"/>
          </a:xfrm>
          <a:prstGeom prst="rightArrow">
            <a:avLst/>
          </a:prstGeom>
          <a:solidFill>
            <a:srgbClr val="0E7C9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D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CF24D3A-BE62-4B22-B2D0-02797D7D4F30}"/>
              </a:ext>
            </a:extLst>
          </p:cNvPr>
          <p:cNvSpPr txBox="1"/>
          <p:nvPr/>
        </p:nvSpPr>
        <p:spPr>
          <a:xfrm>
            <a:off x="2971800" y="1955800"/>
            <a:ext cx="1955800" cy="254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414F"/>
                </a:solidFill>
              </a:rPr>
              <a:t>OUT → PA0</a:t>
            </a:r>
            <a:endParaRPr lang="en-DE" sz="1400">
              <a:solidFill>
                <a:srgbClr val="33414F"/>
              </a:solidFill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5AC13250-728C-4F2D-A4B4-E3599CC4FC52}"/>
              </a:ext>
            </a:extLst>
          </p:cNvPr>
          <p:cNvSpPr/>
          <p:nvPr/>
        </p:nvSpPr>
        <p:spPr>
          <a:xfrm>
            <a:off x="3098800" y="3073400"/>
            <a:ext cx="1752600" cy="228600"/>
          </a:xfrm>
          <a:prstGeom prst="rightArrow">
            <a:avLst/>
          </a:prstGeom>
          <a:solidFill>
            <a:srgbClr val="0E7C9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DE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6B5A5C-F8A8-4945-BC18-93A96D4DCE20}"/>
              </a:ext>
            </a:extLst>
          </p:cNvPr>
          <p:cNvSpPr txBox="1"/>
          <p:nvPr/>
        </p:nvSpPr>
        <p:spPr>
          <a:xfrm>
            <a:off x="2971800" y="2794000"/>
            <a:ext cx="1955800" cy="254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414F"/>
                </a:solidFill>
              </a:rPr>
              <a:t>OUT → PA1</a:t>
            </a:r>
            <a:endParaRPr lang="en-DE" sz="1400">
              <a:solidFill>
                <a:srgbClr val="33414F"/>
              </a:solidFill>
            </a:endParaRPr>
          </a:p>
        </p:txBody>
      </p:sp>
      <p:sp>
        <p:nvSpPr>
          <p:cNvPr id="12" name="Arrow: Left-Right 11">
            <a:extLst>
              <a:ext uri="{FF2B5EF4-FFF2-40B4-BE49-F238E27FC236}">
                <a16:creationId xmlns:a16="http://schemas.microsoft.com/office/drawing/2014/main" id="{2445D492-B71D-4C1B-A50B-30CF1820E628}"/>
              </a:ext>
            </a:extLst>
          </p:cNvPr>
          <p:cNvSpPr/>
          <p:nvPr/>
        </p:nvSpPr>
        <p:spPr>
          <a:xfrm>
            <a:off x="7594600" y="2616200"/>
            <a:ext cx="1676400" cy="279400"/>
          </a:xfrm>
          <a:prstGeom prst="leftRightArrow">
            <a:avLst/>
          </a:prstGeom>
          <a:solidFill>
            <a:srgbClr val="0B5FA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DE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C5DD96-F664-49A0-BFFE-3B7A4894F648}"/>
              </a:ext>
            </a:extLst>
          </p:cNvPr>
          <p:cNvSpPr txBox="1"/>
          <p:nvPr/>
        </p:nvSpPr>
        <p:spPr>
          <a:xfrm>
            <a:off x="7518400" y="2336800"/>
            <a:ext cx="1828800" cy="2540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en-US" sz="1400">
                <a:solidFill>
                  <a:srgbClr val="33414F"/>
                </a:solidFill>
              </a:rPr>
              <a:t>USB · ST-LINK VCP</a:t>
            </a:r>
            <a:endParaRPr lang="en-DE" sz="1400">
              <a:solidFill>
                <a:srgbClr val="33414F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B7C8B6-12DA-4975-BAB3-2014E4BFACE0}"/>
              </a:ext>
            </a:extLst>
          </p:cNvPr>
          <p:cNvSpPr txBox="1"/>
          <p:nvPr/>
        </p:nvSpPr>
        <p:spPr>
          <a:xfrm>
            <a:off x="685800" y="3810000"/>
            <a:ext cx="6858000" cy="2794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de-DE" sz="1400" b="1">
                <a:solidFill>
                  <a:srgbClr val="0E7C9D"/>
                </a:solidFill>
              </a:rPr>
              <a:t>2 · Anzeige „frei": High-Pegel schaltet die grüne LED ein</a:t>
            </a:r>
            <a:endParaRPr lang="en-DE" sz="1400" b="1">
              <a:solidFill>
                <a:srgbClr val="0E7C9D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D487CE0-D30B-4910-84B3-9176F8F2C2D9}"/>
              </a:ext>
            </a:extLst>
          </p:cNvPr>
          <p:cNvSpPr/>
          <p:nvPr/>
        </p:nvSpPr>
        <p:spPr>
          <a:xfrm>
            <a:off x="685800" y="4267200"/>
            <a:ext cx="2286000" cy="736600"/>
          </a:xfrm>
          <a:prstGeom prst="roundRect">
            <a:avLst/>
          </a:prstGeom>
          <a:solidFill>
            <a:srgbClr val="0B5FA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Segoe UI"/>
                <a:cs typeface="Segoe UI"/>
              </a:rPr>
              <a:t>STM32 GPIO
PA4 / PA5</a:t>
            </a:r>
            <a:endParaRPr lang="en-DE" sz="1400" b="1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40E1490-49F1-49C3-8F06-DFD87B02FCD1}"/>
              </a:ext>
            </a:extLst>
          </p:cNvPr>
          <p:cNvSpPr/>
          <p:nvPr/>
        </p:nvSpPr>
        <p:spPr>
          <a:xfrm>
            <a:off x="3810000" y="4267200"/>
            <a:ext cx="2286000" cy="736600"/>
          </a:xfrm>
          <a:prstGeom prst="roundRect">
            <a:avLst/>
          </a:prstGeom>
          <a:solidFill>
            <a:srgbClr val="FFF3E6"/>
          </a:solidFill>
          <a:ln w="19050" cap="flat" cmpd="sng" algn="ctr">
            <a:solidFill>
              <a:srgbClr val="E8913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de-DE" sz="1400" b="1">
                <a:solidFill>
                  <a:srgbClr val="8A5212"/>
                </a:solidFill>
                <a:latin typeface="Segoe UI"/>
                <a:cs typeface="Segoe UI"/>
              </a:rPr>
              <a:t>Vorwiderstand
220 Ω – 1 kΩ</a:t>
            </a:r>
            <a:endParaRPr lang="en-DE" sz="1400" b="1">
              <a:solidFill>
                <a:srgbClr val="8A5212"/>
              </a:solidFill>
              <a:latin typeface="Segoe UI"/>
              <a:cs typeface="Segoe UI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4B89F9B-B2CF-4569-B6C8-AD7CFBBBB4E9}"/>
              </a:ext>
            </a:extLst>
          </p:cNvPr>
          <p:cNvSpPr/>
          <p:nvPr/>
        </p:nvSpPr>
        <p:spPr>
          <a:xfrm>
            <a:off x="6934200" y="4267200"/>
            <a:ext cx="2286000" cy="736600"/>
          </a:xfrm>
          <a:prstGeom prst="roundRect">
            <a:avLst/>
          </a:prstGeom>
          <a:solidFill>
            <a:srgbClr val="E6F4EC"/>
          </a:solidFill>
          <a:ln w="19050" cap="flat" cmpd="sng" algn="ctr">
            <a:solidFill>
              <a:srgbClr val="2E9E5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1D6B3C"/>
                </a:solidFill>
                <a:latin typeface="Segoe UI"/>
                <a:cs typeface="Segoe UI"/>
              </a:rPr>
              <a:t>Grüne LED
A12 / A41</a:t>
            </a:r>
            <a:endParaRPr lang="en-DE" sz="1400" b="1">
              <a:solidFill>
                <a:srgbClr val="1D6B3C"/>
              </a:solidFill>
              <a:latin typeface="Segoe UI"/>
              <a:cs typeface="Segoe UI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96E3251-C964-48EF-9D60-4786370DCE4B}"/>
              </a:ext>
            </a:extLst>
          </p:cNvPr>
          <p:cNvSpPr/>
          <p:nvPr/>
        </p:nvSpPr>
        <p:spPr>
          <a:xfrm>
            <a:off x="10058400" y="4267200"/>
            <a:ext cx="1447800" cy="736600"/>
          </a:xfrm>
          <a:prstGeom prst="roundRect">
            <a:avLst/>
          </a:prstGeom>
          <a:solidFill>
            <a:srgbClr val="33414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Segoe UI"/>
                <a:cs typeface="Segoe UI"/>
              </a:rPr>
              <a:t>GND</a:t>
            </a:r>
            <a:endParaRPr lang="en-DE" sz="1400" b="1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0C872262-612E-474D-90DE-24FC71A17A43}"/>
              </a:ext>
            </a:extLst>
          </p:cNvPr>
          <p:cNvSpPr/>
          <p:nvPr/>
        </p:nvSpPr>
        <p:spPr>
          <a:xfrm>
            <a:off x="3022600" y="4495800"/>
            <a:ext cx="736600" cy="279400"/>
          </a:xfrm>
          <a:prstGeom prst="rightArrow">
            <a:avLst/>
          </a:prstGeom>
          <a:solidFill>
            <a:srgbClr val="6C7A8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DE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C6F28981-0209-48C4-BDDD-9FCE3C1329C1}"/>
              </a:ext>
            </a:extLst>
          </p:cNvPr>
          <p:cNvSpPr/>
          <p:nvPr/>
        </p:nvSpPr>
        <p:spPr>
          <a:xfrm>
            <a:off x="6146800" y="4495800"/>
            <a:ext cx="736600" cy="279400"/>
          </a:xfrm>
          <a:prstGeom prst="rightArrow">
            <a:avLst/>
          </a:prstGeom>
          <a:solidFill>
            <a:srgbClr val="6C7A8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DE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95E0E97C-30C9-4C5C-9559-2233A85C8A05}"/>
              </a:ext>
            </a:extLst>
          </p:cNvPr>
          <p:cNvSpPr/>
          <p:nvPr/>
        </p:nvSpPr>
        <p:spPr>
          <a:xfrm>
            <a:off x="9271000" y="4495800"/>
            <a:ext cx="736600" cy="279400"/>
          </a:xfrm>
          <a:prstGeom prst="rightArrow">
            <a:avLst/>
          </a:prstGeom>
          <a:solidFill>
            <a:srgbClr val="6C7A8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951945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5EF4532-6093-4B38-BA4C-E1FD2B3164F7}"/>
              </a:ext>
            </a:extLst>
          </p:cNvPr>
          <p:cNvSpPr/>
          <p:nvPr/>
        </p:nvSpPr>
        <p:spPr>
          <a:xfrm>
            <a:off x="7620000" y="1905000"/>
            <a:ext cx="3886200" cy="4343400"/>
          </a:xfrm>
          <a:prstGeom prst="roundRect">
            <a:avLst/>
          </a:prstGeom>
          <a:solidFill>
            <a:srgbClr val="EEF3F8"/>
          </a:solidFill>
          <a:ln w="12700" cap="flat" cmpd="sng" algn="ctr">
            <a:solidFill>
              <a:srgbClr val="0B5FA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374B8-57FD-AB31-6746-E06B11786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Firmware-Ablauf: Zustandsautomat &amp; 3-Sekunden-Regel</a:t>
            </a:r>
            <a:endParaRPr lang="en-DE"/>
          </a:p>
        </p:txBody>
      </p:sp>
      <p:sp>
        <p:nvSpPr>
          <p:cNvPr id="3" name="Flowchart: Terminator 2">
            <a:extLst>
              <a:ext uri="{FF2B5EF4-FFF2-40B4-BE49-F238E27FC236}">
                <a16:creationId xmlns:a16="http://schemas.microsoft.com/office/drawing/2014/main" id="{A40E4E3F-410A-4A1F-B969-119536239BF9}"/>
              </a:ext>
            </a:extLst>
          </p:cNvPr>
          <p:cNvSpPr/>
          <p:nvPr/>
        </p:nvSpPr>
        <p:spPr>
          <a:xfrm>
            <a:off x="1905000" y="1905000"/>
            <a:ext cx="2540000" cy="482600"/>
          </a:xfrm>
          <a:prstGeom prst="flowChartTerminator">
            <a:avLst/>
          </a:prstGeom>
          <a:solidFill>
            <a:srgbClr val="33414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Segoe UI"/>
                <a:cs typeface="Segoe UI"/>
              </a:rPr>
              <a:t>Start / Reset</a:t>
            </a:r>
            <a:endParaRPr lang="en-DE" sz="1400" b="1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1F688375-9718-4BB5-9997-A27ED054DBD5}"/>
              </a:ext>
            </a:extLst>
          </p:cNvPr>
          <p:cNvSpPr/>
          <p:nvPr/>
        </p:nvSpPr>
        <p:spPr>
          <a:xfrm>
            <a:off x="3022600" y="2413000"/>
            <a:ext cx="304800" cy="228600"/>
          </a:xfrm>
          <a:prstGeom prst="downArrow">
            <a:avLst/>
          </a:prstGeom>
          <a:solidFill>
            <a:srgbClr val="6C7A8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DE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C622DE6-3957-47AA-88E0-B73DBAE7B898}"/>
              </a:ext>
            </a:extLst>
          </p:cNvPr>
          <p:cNvSpPr/>
          <p:nvPr/>
        </p:nvSpPr>
        <p:spPr>
          <a:xfrm>
            <a:off x="1397000" y="2667000"/>
            <a:ext cx="3556000" cy="584200"/>
          </a:xfrm>
          <a:prstGeom prst="roundRect">
            <a:avLst/>
          </a:prstGeom>
          <a:solidFill>
            <a:srgbClr val="0B5FA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pt-BR" sz="1400">
                <a:solidFill>
                  <a:srgbClr val="FFFFFF"/>
                </a:solidFill>
                <a:latin typeface="Segoe UI"/>
                <a:cs typeface="Segoe UI"/>
              </a:rPr>
              <a:t>Init: HAL · Clock · GPIO · COM1 (115200 8N1)</a:t>
            </a:r>
            <a:endParaRPr lang="en-DE" sz="1400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78977959-76C2-4BE3-9829-1F24EB12DDB1}"/>
              </a:ext>
            </a:extLst>
          </p:cNvPr>
          <p:cNvSpPr/>
          <p:nvPr/>
        </p:nvSpPr>
        <p:spPr>
          <a:xfrm>
            <a:off x="3022600" y="3276600"/>
            <a:ext cx="304800" cy="203200"/>
          </a:xfrm>
          <a:prstGeom prst="downArrow">
            <a:avLst/>
          </a:prstGeom>
          <a:solidFill>
            <a:srgbClr val="6C7A8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DE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8A02E4F-018B-4F12-9EE3-5DD3A8D98AA9}"/>
              </a:ext>
            </a:extLst>
          </p:cNvPr>
          <p:cNvSpPr/>
          <p:nvPr/>
        </p:nvSpPr>
        <p:spPr>
          <a:xfrm>
            <a:off x="1397000" y="3505200"/>
            <a:ext cx="3556000" cy="584200"/>
          </a:xfrm>
          <a:prstGeom prst="roundRect">
            <a:avLst/>
          </a:prstGeom>
          <a:solidFill>
            <a:srgbClr val="0E7C9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de-DE" sz="1400">
                <a:solidFill>
                  <a:srgbClr val="FFFFFF"/>
                </a:solidFill>
                <a:latin typeface="Segoe UI"/>
                <a:cs typeface="Segoe UI"/>
              </a:rPr>
              <a:t>A12 &amp; A41 entprellt lesen (2× / 20 ms)</a:t>
            </a:r>
            <a:endParaRPr lang="en-DE" sz="1400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165AB0B6-0DB4-49D5-9B05-72D8320FF46F}"/>
              </a:ext>
            </a:extLst>
          </p:cNvPr>
          <p:cNvSpPr/>
          <p:nvPr/>
        </p:nvSpPr>
        <p:spPr>
          <a:xfrm>
            <a:off x="3022600" y="4114800"/>
            <a:ext cx="304800" cy="203200"/>
          </a:xfrm>
          <a:prstGeom prst="downArrow">
            <a:avLst/>
          </a:prstGeom>
          <a:solidFill>
            <a:srgbClr val="6C7A8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DE"/>
          </a:p>
        </p:txBody>
      </p:sp>
      <p:sp>
        <p:nvSpPr>
          <p:cNvPr id="9" name="Diamond 8">
            <a:extLst>
              <a:ext uri="{FF2B5EF4-FFF2-40B4-BE49-F238E27FC236}">
                <a16:creationId xmlns:a16="http://schemas.microsoft.com/office/drawing/2014/main" id="{58BC89B7-D82E-4426-84E0-F7BB40F0D217}"/>
              </a:ext>
            </a:extLst>
          </p:cNvPr>
          <p:cNvSpPr/>
          <p:nvPr/>
        </p:nvSpPr>
        <p:spPr>
          <a:xfrm>
            <a:off x="1778000" y="4343400"/>
            <a:ext cx="2794000" cy="1066800"/>
          </a:xfrm>
          <a:prstGeom prst="diamond">
            <a:avLst/>
          </a:prstGeom>
          <a:solidFill>
            <a:srgbClr val="E8913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de-DE" sz="1400" b="1">
                <a:solidFill>
                  <a:srgbClr val="1A2433"/>
                </a:solidFill>
                <a:latin typeface="Segoe UI"/>
                <a:cs typeface="Segoe UI"/>
              </a:rPr>
              <a:t>Platz ≥ 3 s stabil belegt?</a:t>
            </a:r>
            <a:endParaRPr lang="en-DE" sz="1400" b="1">
              <a:solidFill>
                <a:srgbClr val="1A2433"/>
              </a:solidFill>
              <a:latin typeface="Segoe UI"/>
              <a:cs typeface="Segoe UI"/>
            </a:endParaRP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798E9023-6472-477D-BD32-FCEE57F07B19}"/>
              </a:ext>
            </a:extLst>
          </p:cNvPr>
          <p:cNvSpPr/>
          <p:nvPr/>
        </p:nvSpPr>
        <p:spPr>
          <a:xfrm>
            <a:off x="3022600" y="5435600"/>
            <a:ext cx="304800" cy="203200"/>
          </a:xfrm>
          <a:prstGeom prst="downArrow">
            <a:avLst/>
          </a:prstGeom>
          <a:solidFill>
            <a:srgbClr val="6C7A8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DE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D186D0B-7722-4165-B006-70EBCDFD9E69}"/>
              </a:ext>
            </a:extLst>
          </p:cNvPr>
          <p:cNvSpPr/>
          <p:nvPr/>
        </p:nvSpPr>
        <p:spPr>
          <a:xfrm>
            <a:off x="1397000" y="5664200"/>
            <a:ext cx="3556000" cy="584200"/>
          </a:xfrm>
          <a:prstGeom prst="roundRect">
            <a:avLst/>
          </a:prstGeom>
          <a:solidFill>
            <a:srgbClr val="1E7E4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de-DE" sz="1400">
                <a:solidFill>
                  <a:srgbClr val="FFFFFF"/>
                </a:solidFill>
                <a:latin typeface="Segoe UI"/>
                <a:cs typeface="Segoe UI"/>
              </a:rPr>
              <a:t>Frei-LEDs folgen sofort dem Sensorzustand</a:t>
            </a:r>
            <a:endParaRPr lang="en-DE" sz="1400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16018A50-2416-46A1-90B3-11FD578C0646}"/>
              </a:ext>
            </a:extLst>
          </p:cNvPr>
          <p:cNvSpPr/>
          <p:nvPr/>
        </p:nvSpPr>
        <p:spPr>
          <a:xfrm>
            <a:off x="4572000" y="4724400"/>
            <a:ext cx="685800" cy="304800"/>
          </a:xfrm>
          <a:prstGeom prst="rightArrow">
            <a:avLst/>
          </a:prstGeom>
          <a:solidFill>
            <a:srgbClr val="6C7A8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DE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B8EAABE-DFB6-4C27-872E-795B8DCEACCA}"/>
              </a:ext>
            </a:extLst>
          </p:cNvPr>
          <p:cNvSpPr/>
          <p:nvPr/>
        </p:nvSpPr>
        <p:spPr>
          <a:xfrm>
            <a:off x="5334000" y="4572000"/>
            <a:ext cx="1905000" cy="609600"/>
          </a:xfrm>
          <a:prstGeom prst="roundRect">
            <a:avLst/>
          </a:prstGeom>
          <a:solidFill>
            <a:srgbClr val="C0392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US" sz="1400" b="1">
                <a:solidFill>
                  <a:srgbClr val="FFFFFF"/>
                </a:solidFill>
                <a:latin typeface="Segoe UI"/>
                <a:cs typeface="Segoe UI"/>
              </a:rPr>
              <a:t>JSON „used" senden</a:t>
            </a:r>
            <a:endParaRPr lang="en-DE" sz="1400" b="1">
              <a:solidFill>
                <a:srgbClr val="FFFFFF"/>
              </a:solidFill>
              <a:latin typeface="Segoe UI"/>
              <a:cs typeface="Segoe U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55FB83-927B-4799-9EB3-C6E046981658}"/>
              </a:ext>
            </a:extLst>
          </p:cNvPr>
          <p:cNvSpPr txBox="1"/>
          <p:nvPr/>
        </p:nvSpPr>
        <p:spPr>
          <a:xfrm>
            <a:off x="4597400" y="4419600"/>
            <a:ext cx="635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b="1">
                <a:solidFill>
                  <a:srgbClr val="33414F"/>
                </a:solidFill>
              </a:rPr>
              <a:t>Ja</a:t>
            </a:r>
            <a:endParaRPr lang="en-DE" sz="1300" b="1">
              <a:solidFill>
                <a:srgbClr val="33414F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5EE493-31C7-4C31-BE1B-7C231E6BC6C7}"/>
              </a:ext>
            </a:extLst>
          </p:cNvPr>
          <p:cNvSpPr txBox="1"/>
          <p:nvPr/>
        </p:nvSpPr>
        <p:spPr>
          <a:xfrm>
            <a:off x="7924800" y="2133600"/>
            <a:ext cx="330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0B5FA5"/>
                </a:solidFill>
                <a:latin typeface="Trebuchet MS"/>
              </a:rPr>
              <a:t>Wichtige Regeln</a:t>
            </a:r>
            <a:endParaRPr lang="en-DE" b="1">
              <a:solidFill>
                <a:srgbClr val="0B5FA5"/>
              </a:solidFill>
              <a:latin typeface="Trebuchet M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97F968-883B-473E-93B3-8A809D97EE88}"/>
              </a:ext>
            </a:extLst>
          </p:cNvPr>
          <p:cNvSpPr txBox="1"/>
          <p:nvPr/>
        </p:nvSpPr>
        <p:spPr>
          <a:xfrm>
            <a:off x="7899400" y="2616200"/>
            <a:ext cx="3403600" cy="3505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1A2433"/>
                </a:solidFill>
                <a:latin typeface="Segoe UI"/>
                <a:cs typeface="Segoe UI"/>
              </a:rPr>
              <a:t>•  Entprellen: 2 gleiche Samples im Abstand von 20 ms
•  „used"-Event erst nach 3000 ms stabiler Belegung
•  „free" nur, wenn zuvor „used" gemeldet wurde
•  Grüne LEDs folgen sofort dem Sensor – ohne 3-s-Verzögerung
•  Aktueller Zustand jederzeit mit dem Befehl STATUS abrufbar</a:t>
            </a:r>
            <a:endParaRPr lang="en-DE" sz="1400">
              <a:solidFill>
                <a:srgbClr val="1A2433"/>
              </a:solidFill>
              <a:latin typeface="Segoe UI"/>
              <a:cs typeface="Segoe UI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2F03E9-65BE-4040-BE13-7FDB8884BBB5}"/>
              </a:ext>
            </a:extLst>
          </p:cNvPr>
          <p:cNvSpPr txBox="1"/>
          <p:nvPr/>
        </p:nvSpPr>
        <p:spPr>
          <a:xfrm>
            <a:off x="3327400" y="5257800"/>
            <a:ext cx="685800" cy="228600"/>
          </a:xfrm>
          <a:prstGeom prst="rect">
            <a:avLst/>
          </a:prstGeom>
          <a:noFill/>
        </p:spPr>
        <p:txBody>
          <a:bodyPr vertOverflow="overflow" vert="horz" wrap="none" rtlCol="0" anchor="t">
            <a:noAutofit/>
          </a:bodyPr>
          <a:lstStyle/>
          <a:p>
            <a:pPr algn="l"/>
            <a:r>
              <a:rPr lang="en-US" sz="1300" b="1">
                <a:solidFill>
                  <a:srgbClr val="33414F"/>
                </a:solidFill>
              </a:rPr>
              <a:t>Nein</a:t>
            </a:r>
            <a:endParaRPr lang="en-DE" sz="1300" b="1">
              <a:solidFill>
                <a:srgbClr val="33414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33717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01405-7184-7F97-9D4A-D317E4365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Serielles Protokoll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C5E0B-FFF0-00B1-A5D0-0C5CCE18DA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84400"/>
            <a:ext cx="4724400" cy="4064000"/>
          </a:xfrm>
        </p:spPr>
        <p:txBody>
          <a:bodyPr>
            <a:normAutofit/>
          </a:bodyPr>
          <a:lstStyle/>
          <a:p>
            <a:r>
              <a:rPr lang="en-US" sz="1600"/>
              <a:t>Port: ST-LINK Virtual COM Port
Schnittstelle: COM1 / LPUART1 (BSP)
Baudrate: 115200 Baud
8 Datenbits · 1 Stoppbit · keine Parität
Keine Flow Control
Zeilenende: \r, \n oder \r\n</a:t>
            </a:r>
            <a:endParaRPr lang="en-DE" sz="16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276AA9-2D41-41EC-AB56-A711CC892393}"/>
              </a:ext>
            </a:extLst>
          </p:cNvPr>
          <p:cNvSpPr txBox="1"/>
          <p:nvPr/>
        </p:nvSpPr>
        <p:spPr>
          <a:xfrm>
            <a:off x="685800" y="1752600"/>
            <a:ext cx="4724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0B5FA5"/>
                </a:solidFill>
              </a:rPr>
              <a:t>Verbindungsparameter</a:t>
            </a:r>
            <a:endParaRPr lang="en-DE" sz="1500" b="1">
              <a:solidFill>
                <a:srgbClr val="0B5FA5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70FCCBC-67E1-4DE3-83EB-7A53BDCBFE20}"/>
              </a:ext>
            </a:extLst>
          </p:cNvPr>
          <p:cNvSpPr/>
          <p:nvPr/>
        </p:nvSpPr>
        <p:spPr>
          <a:xfrm>
            <a:off x="5689600" y="1930400"/>
            <a:ext cx="5816600" cy="990600"/>
          </a:xfrm>
          <a:prstGeom prst="roundRect">
            <a:avLst/>
          </a:prstGeom>
          <a:solidFill>
            <a:srgbClr val="F4F7FA"/>
          </a:solidFill>
          <a:ln w="12700" cap="flat" cmpd="sng" algn="ctr">
            <a:solidFill>
              <a:srgbClr val="C9D6E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DF4639-CDB7-465F-B926-BB2A5A40571A}"/>
              </a:ext>
            </a:extLst>
          </p:cNvPr>
          <p:cNvSpPr txBox="1"/>
          <p:nvPr/>
        </p:nvSpPr>
        <p:spPr>
          <a:xfrm>
            <a:off x="5892800" y="2032000"/>
            <a:ext cx="5410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D64545"/>
                </a:solidFill>
              </a:rPr>
              <a:t>Automatisches Event · belegt</a:t>
            </a:r>
            <a:endParaRPr lang="en-DE" sz="1400" b="1">
              <a:solidFill>
                <a:srgbClr val="D64545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751A4D-70D3-4BD6-8AEF-4744A30D6C4B}"/>
              </a:ext>
            </a:extLst>
          </p:cNvPr>
          <p:cNvSpPr txBox="1"/>
          <p:nvPr/>
        </p:nvSpPr>
        <p:spPr>
          <a:xfrm>
            <a:off x="5892800" y="2311400"/>
            <a:ext cx="54102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A2433"/>
                </a:solidFill>
                <a:latin typeface="Consolas"/>
              </a:rPr>
              <a:t>{"place":"A12","state":"used",
 "timestamp_ms":3120}</a:t>
            </a:r>
            <a:endParaRPr lang="en-DE" sz="1300">
              <a:solidFill>
                <a:srgbClr val="1A2433"/>
              </a:solidFill>
              <a:latin typeface="Consolas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FC4A9DE-7B1C-464A-B21A-45F5CB605375}"/>
              </a:ext>
            </a:extLst>
          </p:cNvPr>
          <p:cNvSpPr/>
          <p:nvPr/>
        </p:nvSpPr>
        <p:spPr>
          <a:xfrm>
            <a:off x="5689600" y="3022600"/>
            <a:ext cx="5816600" cy="990600"/>
          </a:xfrm>
          <a:prstGeom prst="roundRect">
            <a:avLst/>
          </a:prstGeom>
          <a:solidFill>
            <a:srgbClr val="F4F7FA"/>
          </a:solidFill>
          <a:ln w="12700" cap="flat" cmpd="sng" algn="ctr">
            <a:solidFill>
              <a:srgbClr val="C9D6E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D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CBAAF7-917E-4AC1-A74B-19B64DF47A19}"/>
              </a:ext>
            </a:extLst>
          </p:cNvPr>
          <p:cNvSpPr txBox="1"/>
          <p:nvPr/>
        </p:nvSpPr>
        <p:spPr>
          <a:xfrm>
            <a:off x="5892800" y="3124200"/>
            <a:ext cx="5410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2E9E5B"/>
                </a:solidFill>
              </a:rPr>
              <a:t>Wieder frei</a:t>
            </a:r>
            <a:endParaRPr lang="en-DE" sz="1400" b="1">
              <a:solidFill>
                <a:srgbClr val="2E9E5B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09F8E7-D60A-4917-8333-28DB6DAE2DB8}"/>
              </a:ext>
            </a:extLst>
          </p:cNvPr>
          <p:cNvSpPr txBox="1"/>
          <p:nvPr/>
        </p:nvSpPr>
        <p:spPr>
          <a:xfrm>
            <a:off x="5892800" y="3403600"/>
            <a:ext cx="54102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A2433"/>
                </a:solidFill>
                <a:latin typeface="Consolas"/>
              </a:rPr>
              <a:t>{"place":"A12","state":"free",
 "timestamp_ms":9400}</a:t>
            </a:r>
            <a:endParaRPr lang="en-DE" sz="1300">
              <a:solidFill>
                <a:srgbClr val="1A2433"/>
              </a:solidFill>
              <a:latin typeface="Consolas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B08B7A0-745F-42D3-B7B3-6A1ED1990355}"/>
              </a:ext>
            </a:extLst>
          </p:cNvPr>
          <p:cNvSpPr/>
          <p:nvPr/>
        </p:nvSpPr>
        <p:spPr>
          <a:xfrm>
            <a:off x="5689600" y="4114800"/>
            <a:ext cx="5816600" cy="1193800"/>
          </a:xfrm>
          <a:prstGeom prst="roundRect">
            <a:avLst/>
          </a:prstGeom>
          <a:solidFill>
            <a:srgbClr val="F4F7FA"/>
          </a:solidFill>
          <a:ln w="12700" cap="flat" cmpd="sng" algn="ctr">
            <a:solidFill>
              <a:srgbClr val="C9D6E2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DE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C02D87-B0D6-495B-8CE6-25B7A7E9146D}"/>
              </a:ext>
            </a:extLst>
          </p:cNvPr>
          <p:cNvSpPr txBox="1"/>
          <p:nvPr/>
        </p:nvSpPr>
        <p:spPr>
          <a:xfrm>
            <a:off x="5892800" y="4216400"/>
            <a:ext cx="5410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0B5FA5"/>
                </a:solidFill>
              </a:rPr>
              <a:t>Befehl  STATUS  → Snapshot-Array</a:t>
            </a:r>
            <a:endParaRPr lang="en-DE" sz="1400" b="1">
              <a:solidFill>
                <a:srgbClr val="0B5FA5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6CF74DE-25A1-4F45-B8C5-90A22FE6D613}"/>
              </a:ext>
            </a:extLst>
          </p:cNvPr>
          <p:cNvSpPr txBox="1"/>
          <p:nvPr/>
        </p:nvSpPr>
        <p:spPr>
          <a:xfrm>
            <a:off x="5892800" y="4495800"/>
            <a:ext cx="5410200" cy="736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A2433"/>
                </a:solidFill>
                <a:latin typeface="Consolas"/>
              </a:rPr>
              <a:t>[{"place":"A12","state":"free",...},
 {"place":"A41","state":"used",...}]</a:t>
            </a:r>
            <a:endParaRPr lang="en-DE" sz="1300">
              <a:solidFill>
                <a:srgbClr val="1A2433"/>
              </a:solidFill>
              <a:latin typeface="Consola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5E78CF-D313-4D26-B40F-55BD4A79404B}"/>
              </a:ext>
            </a:extLst>
          </p:cNvPr>
          <p:cNvSpPr txBox="1"/>
          <p:nvPr/>
        </p:nvSpPr>
        <p:spPr>
          <a:xfrm>
            <a:off x="5689600" y="5486400"/>
            <a:ext cx="58166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 i="1">
                <a:solidFill>
                  <a:srgbClr val="6C7A89"/>
                </a:solidFill>
              </a:rPr>
              <a:t>Fehlerausgaben: {"error":"unknown_command"} · {"error":"command_too_long"}  —  Befehlsbuffer: 16 Zeichen (max. 15 sichtbar).</a:t>
            </a:r>
            <a:endParaRPr lang="en-DE" sz="1300" i="1">
              <a:solidFill>
                <a:srgbClr val="6C7A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4861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D3D72BA-AA53-40FF-9425-8E6725DE3010}"/>
              </a:ext>
            </a:extLst>
          </p:cNvPr>
          <p:cNvSpPr/>
          <p:nvPr/>
        </p:nvSpPr>
        <p:spPr>
          <a:xfrm>
            <a:off x="8382000" y="2006600"/>
            <a:ext cx="3124200" cy="3810000"/>
          </a:xfrm>
          <a:prstGeom prst="roundRect">
            <a:avLst/>
          </a:prstGeom>
          <a:solidFill>
            <a:srgbClr val="EEF3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C1D083B-43AC-791C-D66E-923865547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Web-Dashboard</a:t>
            </a:r>
            <a:endParaRPr lang="en-DE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A3B65D2-A370-4027-AAE8-C38EE8C15209}"/>
              </a:ext>
            </a:extLst>
          </p:cNvPr>
          <p:cNvSpPr txBox="1"/>
          <p:nvPr/>
        </p:nvSpPr>
        <p:spPr>
          <a:xfrm>
            <a:off x="685800" y="5626100"/>
            <a:ext cx="7416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i="1">
                <a:solidFill>
                  <a:srgbClr val="6C7A89"/>
                </a:solidFill>
              </a:rPr>
              <a:t>parking-station.html – lokale Oberfläche über Web Serial</a:t>
            </a:r>
            <a:endParaRPr lang="en-DE" sz="1400" i="1">
              <a:solidFill>
                <a:srgbClr val="6C7A89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B0193B-3484-4E27-9488-5901EAFE0240}"/>
              </a:ext>
            </a:extLst>
          </p:cNvPr>
          <p:cNvSpPr txBox="1"/>
          <p:nvPr/>
        </p:nvSpPr>
        <p:spPr>
          <a:xfrm>
            <a:off x="8610600" y="2209800"/>
            <a:ext cx="26924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0B5FA5"/>
                </a:solidFill>
                <a:latin typeface="Trebuchet MS"/>
              </a:rPr>
              <a:t>Was das Dashboard zeigt</a:t>
            </a:r>
            <a:endParaRPr lang="en-DE" sz="1600" b="1">
              <a:solidFill>
                <a:srgbClr val="0B5FA5"/>
              </a:solidFill>
              <a:latin typeface="Trebuchet M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231997-1686-4EF9-95D0-22877C3FE50B}"/>
              </a:ext>
            </a:extLst>
          </p:cNvPr>
          <p:cNvSpPr txBox="1"/>
          <p:nvPr/>
        </p:nvSpPr>
        <p:spPr>
          <a:xfrm>
            <a:off x="8610600" y="2921000"/>
            <a:ext cx="2692400" cy="276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1A2433"/>
                </a:solidFill>
                <a:latin typeface="Segoe UI"/>
                <a:cs typeface="Segoe UI"/>
              </a:rPr>
              <a:t>•  Parkplatzblock mit 20 Feldern (A11 – A45)
•  Nur A12 und A41 sind echte Hardware-Plätze
•  Übrige Felder sind Dummy-Werte, standardmäßig „belegt"
•  Live-Status, Log sowie Parkdauer und Gebühr – nur für die Demo</a:t>
            </a:r>
            <a:endParaRPr lang="en-DE" sz="1400">
              <a:solidFill>
                <a:srgbClr val="1A2433"/>
              </a:solidFill>
              <a:latin typeface="Segoe UI"/>
              <a:cs typeface="Segoe UI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188E7A-9C90-D709-3506-8232C81E6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06600"/>
            <a:ext cx="7416800" cy="3567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5175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7A7FD94-6497-45EF-9F65-E339FF42ABB1}"/>
              </a:ext>
            </a:extLst>
          </p:cNvPr>
          <p:cNvSpPr/>
          <p:nvPr/>
        </p:nvSpPr>
        <p:spPr>
          <a:xfrm>
            <a:off x="508000" y="1905000"/>
            <a:ext cx="4978400" cy="4191000"/>
          </a:xfrm>
          <a:prstGeom prst="roundRect">
            <a:avLst/>
          </a:prstGeom>
          <a:solidFill>
            <a:srgbClr val="EEF3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A50233-C971-D70B-5128-BCAB8635B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Verbindung herstellen</a:t>
            </a:r>
            <a:endParaRPr lang="en-DE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3C1510-7BFB-4C17-A5E7-F4A9C2933195}"/>
              </a:ext>
            </a:extLst>
          </p:cNvPr>
          <p:cNvSpPr txBox="1"/>
          <p:nvPr/>
        </p:nvSpPr>
        <p:spPr>
          <a:xfrm>
            <a:off x="787400" y="2108200"/>
            <a:ext cx="4445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0B5FA5"/>
                </a:solidFill>
                <a:latin typeface="Trebuchet MS"/>
              </a:rPr>
              <a:t>Bedienung in 6 Schritten</a:t>
            </a:r>
            <a:endParaRPr lang="en-DE" sz="1700" b="1">
              <a:solidFill>
                <a:srgbClr val="0B5FA5"/>
              </a:solidFill>
              <a:latin typeface="Trebuchet M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0B525A-DADE-4D7C-BA31-A4535BC295FB}"/>
              </a:ext>
            </a:extLst>
          </p:cNvPr>
          <p:cNvSpPr txBox="1"/>
          <p:nvPr/>
        </p:nvSpPr>
        <p:spPr>
          <a:xfrm>
            <a:off x="762000" y="2565400"/>
            <a:ext cx="4521200" cy="3403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1A2433"/>
                </a:solidFill>
                <a:latin typeface="Segoe UI"/>
                <a:cs typeface="Segoe UI"/>
              </a:rPr>
              <a:t>1.  Firmware auf das NUCLEO-Board flashen
2.  Board per USB mit dem PC verbinden
3.  parking-station.html über lokalen Server in Chrome/Edge öffnen
4.  „Connect" klicken und ST-LINK Virtual COM Port wählen
5.  Mit „Request Status" den aktuellen Zustand anfordern
6.  Sensor abdecken, grüne LED beobachten – nach ~3 s erscheint die JSON-Änderung</a:t>
            </a:r>
            <a:endParaRPr lang="en-DE" sz="1400">
              <a:solidFill>
                <a:srgbClr val="1A2433"/>
              </a:solidFill>
              <a:latin typeface="Segoe UI"/>
              <a:cs typeface="Segoe U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0F0C5F-7882-40EA-86E0-D393FAD92F66}"/>
              </a:ext>
            </a:extLst>
          </p:cNvPr>
          <p:cNvSpPr txBox="1"/>
          <p:nvPr/>
        </p:nvSpPr>
        <p:spPr>
          <a:xfrm>
            <a:off x="5740400" y="3898900"/>
            <a:ext cx="292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6C7A89"/>
                </a:solidFill>
              </a:rPr>
              <a:t>„Connect" / „Request Status"</a:t>
            </a:r>
            <a:endParaRPr lang="en-DE" sz="1400" i="1">
              <a:solidFill>
                <a:srgbClr val="6C7A89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BAE58E-DE89-48FF-AA10-61ECF7E54DDE}"/>
              </a:ext>
            </a:extLst>
          </p:cNvPr>
          <p:cNvSpPr txBox="1"/>
          <p:nvPr/>
        </p:nvSpPr>
        <p:spPr>
          <a:xfrm>
            <a:off x="8763000" y="4432300"/>
            <a:ext cx="279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6C7A89"/>
                </a:solidFill>
              </a:rPr>
              <a:t>ST-LINK Virtual COM Port wählen</a:t>
            </a:r>
            <a:endParaRPr lang="en-DE" sz="1400" i="1">
              <a:solidFill>
                <a:srgbClr val="6C7A89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E73807F-B7D7-A59E-BFE3-DD4D672FC1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0400" y="2159000"/>
            <a:ext cx="2921000" cy="17226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832FC63-381A-3993-D86A-B3662051EC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0000" y="2159000"/>
            <a:ext cx="2540000" cy="2257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107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0D540-C076-55F7-C1DC-E2C75415C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Test &amp; Kontrolle</a:t>
            </a:r>
            <a:endParaRPr lang="en-DE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33221CB-CDEC-4AEE-AC63-D7F0C770A3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8938191"/>
              </p:ext>
            </p:extLst>
          </p:nvPr>
        </p:nvGraphicFramePr>
        <p:xfrm>
          <a:off x="685800" y="1879600"/>
          <a:ext cx="1082040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3519720514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1097427613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4113921265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DE"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Nr.</a:t>
                      </a:r>
                    </a:p>
                  </a:txBody>
                  <a:tcPr anchor="ctr"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DE"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Aktion</a:t>
                      </a:r>
                    </a:p>
                  </a:txBody>
                  <a:tcPr anchor="ctr">
                    <a:solidFill>
                      <a:srgbClr val="0B5FA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DE" sz="14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Erwartetes Ergebnis</a:t>
                      </a:r>
                    </a:p>
                  </a:txBody>
                  <a:tcPr anchor="ctr">
                    <a:solidFill>
                      <a:srgbClr val="0B5F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7533735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DE" sz="1400">
                          <a:solidFill>
                            <a:srgbClr val="1A2433"/>
                          </a:solidFill>
                          <a:latin typeface="Segoe UI"/>
                          <a:cs typeface="Segoe U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DE" sz="1400">
                          <a:solidFill>
                            <a:srgbClr val="1A2433"/>
                          </a:solidFill>
                          <a:latin typeface="Segoe UI"/>
                          <a:cs typeface="Segoe UI"/>
                        </a:rPr>
                        <a:t>Nichts abdecken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DE" sz="1400">
                          <a:solidFill>
                            <a:srgbClr val="1A2433"/>
                          </a:solidFill>
                          <a:latin typeface="Segoe UI"/>
                          <a:cs typeface="Segoe UI"/>
                        </a:rPr>
                        <a:t>Beide grünen Frei-LEDs an · STATUS: beide Plätze frei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7631557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DE" sz="1400">
                          <a:solidFill>
                            <a:srgbClr val="1A2433"/>
                          </a:solidFill>
                          <a:latin typeface="Segoe UI"/>
                          <a:cs typeface="Segoe UI"/>
                        </a:rPr>
                        <a:t>2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DE" sz="1400">
                          <a:solidFill>
                            <a:srgbClr val="1A2433"/>
                          </a:solidFill>
                          <a:latin typeface="Segoe UI"/>
                          <a:cs typeface="Segoe UI"/>
                        </a:rPr>
                        <a:t>Sensor A12 &lt; 3 s abdecken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DE" sz="1400">
                          <a:solidFill>
                            <a:srgbClr val="1A2433"/>
                          </a:solidFill>
                          <a:latin typeface="Segoe UI"/>
                          <a:cs typeface="Segoe UI"/>
                        </a:rPr>
                        <a:t>LED A12 kurz aus, danach wieder an · kein „used“-Event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320313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DE" sz="1400">
                          <a:solidFill>
                            <a:srgbClr val="1A2433"/>
                          </a:solidFill>
                          <a:latin typeface="Segoe UI"/>
                          <a:cs typeface="Segoe U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DE" sz="1400">
                          <a:solidFill>
                            <a:srgbClr val="1A2433"/>
                          </a:solidFill>
                          <a:latin typeface="Segoe UI"/>
                          <a:cs typeface="Segoe UI"/>
                        </a:rPr>
                        <a:t>Sensor A41 kurz abdecken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DE" sz="1400">
                          <a:solidFill>
                            <a:srgbClr val="1A2433"/>
                          </a:solidFill>
                          <a:latin typeface="Segoe UI"/>
                          <a:cs typeface="Segoe UI"/>
                        </a:rPr>
                        <a:t>LED A41 aus, LED A12 bleibt an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159182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DE" sz="1400">
                          <a:solidFill>
                            <a:srgbClr val="1A2433"/>
                          </a:solidFill>
                          <a:latin typeface="Segoe UI"/>
                          <a:cs typeface="Segoe UI"/>
                        </a:rPr>
                        <a:t>4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DE" sz="1400">
                          <a:solidFill>
                            <a:srgbClr val="1A2433"/>
                          </a:solidFill>
                          <a:latin typeface="Segoe UI"/>
                          <a:cs typeface="Segoe UI"/>
                        </a:rPr>
                        <a:t>Sensor A12 &gt; 3 s abdecken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DE" sz="1400">
                          <a:solidFill>
                            <a:srgbClr val="1A2433"/>
                          </a:solidFill>
                          <a:latin typeface="Segoe UI"/>
                          <a:cs typeface="Segoe UI"/>
                        </a:rPr>
                        <a:t>LED A12 aus + JSON {"place":"A12","state":"used"}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744311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DE" sz="1400">
                          <a:solidFill>
                            <a:srgbClr val="1A2433"/>
                          </a:solidFill>
                          <a:latin typeface="Segoe UI"/>
                          <a:cs typeface="Segoe UI"/>
                        </a:rP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DE" sz="1400">
                          <a:solidFill>
                            <a:srgbClr val="1A2433"/>
                          </a:solidFill>
                          <a:latin typeface="Segoe UI"/>
                          <a:cs typeface="Segoe UI"/>
                        </a:rPr>
                        <a:t>A12 nach „used“ freigeben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DE" sz="1400">
                          <a:solidFill>
                            <a:srgbClr val="1A2433"/>
                          </a:solidFill>
                          <a:latin typeface="Segoe UI"/>
                          <a:cs typeface="Segoe UI"/>
                        </a:rPr>
                        <a:t>LED A12 an + JSON {"place":"A12","state":"free"}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524208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DE" sz="1400">
                          <a:solidFill>
                            <a:srgbClr val="1A2433"/>
                          </a:solidFill>
                          <a:latin typeface="Segoe UI"/>
                          <a:cs typeface="Segoe UI"/>
                        </a:rPr>
                        <a:t>6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DE" sz="1400">
                          <a:solidFill>
                            <a:srgbClr val="1A2433"/>
                          </a:solidFill>
                          <a:latin typeface="Segoe UI"/>
                          <a:cs typeface="Segoe UI"/>
                        </a:rPr>
                        <a:t>Sensor A41 &gt; 3 s abdecken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DE" sz="1400">
                          <a:solidFill>
                            <a:srgbClr val="1A2433"/>
                          </a:solidFill>
                          <a:latin typeface="Segoe UI"/>
                          <a:cs typeface="Segoe UI"/>
                        </a:rPr>
                        <a:t>LED A41 aus + JSON {"place":"A41","state":"used"}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436161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DE" sz="1400">
                          <a:solidFill>
                            <a:srgbClr val="1A2433"/>
                          </a:solidFill>
                          <a:latin typeface="Segoe UI"/>
                          <a:cs typeface="Segoe UI"/>
                        </a:rP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DE" sz="1400">
                          <a:solidFill>
                            <a:srgbClr val="1A2433"/>
                          </a:solidFill>
                          <a:latin typeface="Segoe UI"/>
                          <a:cs typeface="Segoe UI"/>
                        </a:rPr>
                        <a:t>Beide Sensoren abdecken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DE" sz="1400">
                          <a:solidFill>
                            <a:srgbClr val="1A2433"/>
                          </a:solidFill>
                          <a:latin typeface="Segoe UI"/>
                          <a:cs typeface="Segoe UI"/>
                        </a:rPr>
                        <a:t>Beide Frei-LEDs aus · STATUS: beide „used“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168295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DE" sz="1400">
                          <a:solidFill>
                            <a:srgbClr val="1A2433"/>
                          </a:solidFill>
                          <a:latin typeface="Segoe UI"/>
                          <a:cs typeface="Segoe UI"/>
                        </a:rPr>
                        <a:t>8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DE" sz="1400">
                          <a:solidFill>
                            <a:srgbClr val="1A2433"/>
                          </a:solidFill>
                          <a:latin typeface="Segoe UI"/>
                          <a:cs typeface="Segoe UI"/>
                        </a:rPr>
                        <a:t>Unbekannter Befehl (HELLO)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DE" sz="1400">
                          <a:solidFill>
                            <a:srgbClr val="1A2433"/>
                          </a:solidFill>
                          <a:latin typeface="Segoe UI"/>
                          <a:cs typeface="Segoe UI"/>
                        </a:rPr>
                        <a:t>JSON {"error":"unknown_command"}</a:t>
                      </a:r>
                    </a:p>
                  </a:txBody>
                  <a:tcPr anchor="ctr"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896978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DE" sz="1400">
                          <a:solidFill>
                            <a:srgbClr val="1A2433"/>
                          </a:solidFill>
                          <a:latin typeface="Segoe UI"/>
                          <a:cs typeface="Segoe UI"/>
                        </a:rP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DE" sz="1400">
                          <a:solidFill>
                            <a:srgbClr val="1A2433"/>
                          </a:solidFill>
                          <a:latin typeface="Segoe UI"/>
                          <a:cs typeface="Segoe UI"/>
                        </a:rPr>
                        <a:t>Sehr langen Befehl senden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DE" sz="1400">
                          <a:solidFill>
                            <a:srgbClr val="1A2433"/>
                          </a:solidFill>
                          <a:latin typeface="Segoe UI"/>
                          <a:cs typeface="Segoe UI"/>
                        </a:rPr>
                        <a:t>JSON {"error":"command_too_long"}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86382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64551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A7476-1049-63DB-9EF8-16E22DD2E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Sensordefekt &amp; Austausch</a:t>
            </a:r>
            <a:endParaRPr lang="en-DE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C23C21-0B94-4BCD-9523-D8463E2CFA02}"/>
              </a:ext>
            </a:extLst>
          </p:cNvPr>
          <p:cNvSpPr txBox="1"/>
          <p:nvPr/>
        </p:nvSpPr>
        <p:spPr>
          <a:xfrm>
            <a:off x="508000" y="2006600"/>
            <a:ext cx="5740400" cy="406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500">
                <a:solidFill>
                  <a:srgbClr val="1A2433"/>
                </a:solidFill>
                <a:latin typeface="Segoe UI"/>
                <a:cs typeface="Segoe UI"/>
              </a:rPr>
              <a:t>•  Beim Testen wurde der rechte Sensor (Platz A41) durch einen Kurzschluss beschädigt und fiel aus.
•  Ersatz: AZ-Delivery IR-Hinderniserkennungs-Sensormodul mit LM393-Komparator, einstellbar per Potentiometer, Betriebsspannung 3,3–5 V.
•  Bekannte Grenze: schwarze Stoffe werden nicht zuverlässig erkannt – dunkle Oberflächen absorbieren das Infrarotlicht.
•  Folge: Platz A41 kann fälschlich als „frei" erscheinen → bei Vorführungen beachten.</a:t>
            </a:r>
            <a:endParaRPr lang="en-DE" sz="1500">
              <a:solidFill>
                <a:srgbClr val="1A2433"/>
              </a:solidFill>
              <a:latin typeface="Segoe UI"/>
              <a:cs typeface="Segoe UI"/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C9E83DF-C6CB-4F2F-8180-0C1F6F6D49E9}"/>
              </a:ext>
            </a:extLst>
          </p:cNvPr>
          <p:cNvSpPr/>
          <p:nvPr/>
        </p:nvSpPr>
        <p:spPr>
          <a:xfrm>
            <a:off x="508000" y="1524000"/>
            <a:ext cx="3810000" cy="381000"/>
          </a:xfrm>
          <a:prstGeom prst="roundRect">
            <a:avLst/>
          </a:prstGeom>
          <a:solidFill>
            <a:srgbClr val="FDEDE9"/>
          </a:solidFill>
          <a:ln w="12700" cap="flat" cmpd="sng" algn="ctr">
            <a:solidFill>
              <a:srgbClr val="D645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>
            <a:noAutofit/>
          </a:bodyPr>
          <a:lstStyle/>
          <a:p>
            <a:pPr algn="l"/>
            <a:r>
              <a:rPr lang="en-US" sz="1300" b="1">
                <a:solidFill>
                  <a:srgbClr val="8B1E1E"/>
                </a:solidFill>
              </a:rPr>
              <a:t>Bekannte Einschränkung des Prototyps</a:t>
            </a:r>
            <a:endParaRPr lang="en-DE" sz="1300" b="1">
              <a:solidFill>
                <a:srgbClr val="8B1E1E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28CDAE-4609-4535-927A-AE08E218B6F8}"/>
              </a:ext>
            </a:extLst>
          </p:cNvPr>
          <p:cNvSpPr txBox="1"/>
          <p:nvPr/>
        </p:nvSpPr>
        <p:spPr>
          <a:xfrm>
            <a:off x="6426200" y="5041900"/>
            <a:ext cx="24892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 i="1">
                <a:solidFill>
                  <a:srgbClr val="6C7A89"/>
                </a:solidFill>
              </a:rPr>
              <a:t>Modell mit neuem rechten Sensor</a:t>
            </a:r>
            <a:endParaRPr lang="en-DE" sz="1400" i="1">
              <a:solidFill>
                <a:srgbClr val="6C7A89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B08253-7364-4AA5-A162-7D0822F58D0A}"/>
              </a:ext>
            </a:extLst>
          </p:cNvPr>
          <p:cNvSpPr txBox="1"/>
          <p:nvPr/>
        </p:nvSpPr>
        <p:spPr>
          <a:xfrm>
            <a:off x="9017000" y="5041900"/>
            <a:ext cx="2489200" cy="431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6C7A89"/>
                </a:solidFill>
              </a:rPr>
              <a:t>AZ-Delivery IR-Sensormodul (Nahaufnahme)</a:t>
            </a:r>
            <a:endParaRPr lang="en-DE" sz="1400" i="1">
              <a:solidFill>
                <a:srgbClr val="6C7A89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A04726-CA0F-4FDB-4CC8-1D97D862EA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2400" y="1905000"/>
            <a:ext cx="2336800" cy="31157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30F4FE-121B-C469-C2F7-7AA7B00A14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3200" y="1905000"/>
            <a:ext cx="2336800" cy="3115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9628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9ED1A63-499B-4B59-ABD2-1DB25958F554}"/>
              </a:ext>
            </a:extLst>
          </p:cNvPr>
          <p:cNvSpPr/>
          <p:nvPr/>
        </p:nvSpPr>
        <p:spPr>
          <a:xfrm>
            <a:off x="6197600" y="1905000"/>
            <a:ext cx="5486400" cy="3810000"/>
          </a:xfrm>
          <a:prstGeom prst="roundRect">
            <a:avLst/>
          </a:prstGeom>
          <a:solidFill>
            <a:srgbClr val="EDF7F0"/>
          </a:solidFill>
          <a:ln w="12700" cap="flat" cmpd="sng" algn="ctr">
            <a:solidFill>
              <a:srgbClr val="2E9E5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DE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E4517A4-E4B7-4261-8BCE-B91A07675A59}"/>
              </a:ext>
            </a:extLst>
          </p:cNvPr>
          <p:cNvSpPr/>
          <p:nvPr/>
        </p:nvSpPr>
        <p:spPr>
          <a:xfrm>
            <a:off x="508000" y="1905000"/>
            <a:ext cx="5486400" cy="3810000"/>
          </a:xfrm>
          <a:prstGeom prst="roundRect">
            <a:avLst/>
          </a:prstGeom>
          <a:solidFill>
            <a:srgbClr val="FDF1EF"/>
          </a:solidFill>
          <a:ln w="12700" cap="flat" cmpd="sng" algn="ctr">
            <a:solidFill>
              <a:srgbClr val="D6454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22D153-AAA2-C20B-A948-438040073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Grenzen: Schulprojekt vs. realer Betrieb</a:t>
            </a:r>
            <a:endParaRPr lang="en-DE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FBB395-30AE-4E78-82A2-717B4398AEC0}"/>
              </a:ext>
            </a:extLst>
          </p:cNvPr>
          <p:cNvSpPr txBox="1"/>
          <p:nvPr/>
        </p:nvSpPr>
        <p:spPr>
          <a:xfrm>
            <a:off x="787400" y="2108200"/>
            <a:ext cx="49276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C0392B"/>
                </a:solidFill>
                <a:latin typeface="Trebuchet MS"/>
              </a:rPr>
              <a:t>Grenzen des IR-Prototyps</a:t>
            </a:r>
            <a:endParaRPr lang="en-DE" sz="1700" b="1">
              <a:solidFill>
                <a:srgbClr val="C0392B"/>
              </a:solidFill>
              <a:latin typeface="Trebuchet M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7D578B-C884-4092-A28D-DD28A8EC73FF}"/>
              </a:ext>
            </a:extLst>
          </p:cNvPr>
          <p:cNvSpPr txBox="1"/>
          <p:nvPr/>
        </p:nvSpPr>
        <p:spPr>
          <a:xfrm>
            <a:off x="6477000" y="2108200"/>
            <a:ext cx="49276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700" b="1">
                <a:solidFill>
                  <a:srgbClr val="1E7E45"/>
                </a:solidFill>
                <a:latin typeface="Trebuchet MS"/>
              </a:rPr>
              <a:t>Robustere Lösungen für reale Parkplätze</a:t>
            </a:r>
            <a:endParaRPr lang="en-DE" sz="1700" b="1">
              <a:solidFill>
                <a:srgbClr val="1E7E45"/>
              </a:solidFill>
              <a:latin typeface="Trebuchet M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5FBFE6-A902-443A-81B1-6A39502522A5}"/>
              </a:ext>
            </a:extLst>
          </p:cNvPr>
          <p:cNvSpPr txBox="1"/>
          <p:nvPr/>
        </p:nvSpPr>
        <p:spPr>
          <a:xfrm>
            <a:off x="762000" y="2565400"/>
            <a:ext cx="5029200" cy="304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1A2433"/>
                </a:solidFill>
                <a:latin typeface="Segoe UI"/>
                <a:cs typeface="Segoe UI"/>
              </a:rPr>
              <a:t>•  Blätter, Müll oder Gegenstände werden als Fahrzeug gemeldet
•  Regen, Schnee, Schmutz verändern die IR-Reflexion
•  Personen, Fahrräder oder Tiere lösen Fehlerkennungen aus
•  Dunkle, matte Flächen reflektieren zu wenig → „frei" trotz Belegung
•  Sonnenlicht und Schatten stören die Messung
•  Keine Fehlererkennung, Redundanz oder Fernüberwachung</a:t>
            </a:r>
            <a:endParaRPr lang="en-DE" sz="1400">
              <a:solidFill>
                <a:srgbClr val="1A2433"/>
              </a:solidFill>
              <a:latin typeface="Segoe UI"/>
              <a:cs typeface="Segoe U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A5B7C0-B01C-4250-8798-D1E2ED51FFA1}"/>
              </a:ext>
            </a:extLst>
          </p:cNvPr>
          <p:cNvSpPr txBox="1"/>
          <p:nvPr/>
        </p:nvSpPr>
        <p:spPr>
          <a:xfrm>
            <a:off x="6451600" y="2565400"/>
            <a:ext cx="5029200" cy="3048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1A2433"/>
                </a:solidFill>
                <a:latin typeface="Segoe UI"/>
                <a:cs typeface="Segoe UI"/>
              </a:rPr>
              <a:t>•  Wetterfester Bodensensor mit Magnetometer + Radar (Sensorfusion)
•  Gewichts- oder Drucksensor zusammen mit IR
•  Ultraschall- oder Radarsensoren über dem Parkplatz (Parkhaus)
•  KI-Kamerasystem für viele Plätze – mit Datenschutz (DSGVO) und Cybersicherheit
•  Reale Kosten v. a. durch Tiefbau, Gehäuse, Backend und Wartung</a:t>
            </a:r>
            <a:endParaRPr lang="en-DE" sz="1400">
              <a:solidFill>
                <a:srgbClr val="1A2433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138644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5062D-30B1-C99A-3CA2-5C6964893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Projektarbeit nach IPERKA (6 Phasen)</a:t>
            </a:r>
            <a:endParaRPr lang="en-DE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DE8D563-9248-400C-B45E-7E9C1724EC6C}"/>
              </a:ext>
            </a:extLst>
          </p:cNvPr>
          <p:cNvSpPr/>
          <p:nvPr/>
        </p:nvSpPr>
        <p:spPr>
          <a:xfrm>
            <a:off x="508000" y="2108200"/>
            <a:ext cx="3657600" cy="1625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E0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DE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87C7CD7-0A32-4292-8BDC-CC5868D27FF4}"/>
              </a:ext>
            </a:extLst>
          </p:cNvPr>
          <p:cNvSpPr/>
          <p:nvPr/>
        </p:nvSpPr>
        <p:spPr>
          <a:xfrm>
            <a:off x="711200" y="2311400"/>
            <a:ext cx="482600" cy="482600"/>
          </a:xfrm>
          <a:prstGeom prst="ellipse">
            <a:avLst/>
          </a:prstGeom>
          <a:solidFill>
            <a:srgbClr val="0B5FA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DE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904653-701D-42CB-A282-C6C33BDAB130}"/>
              </a:ext>
            </a:extLst>
          </p:cNvPr>
          <p:cNvSpPr txBox="1"/>
          <p:nvPr/>
        </p:nvSpPr>
        <p:spPr>
          <a:xfrm>
            <a:off x="1320800" y="2311400"/>
            <a:ext cx="2667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0B5FA5"/>
                </a:solidFill>
                <a:latin typeface="Trebuchet MS"/>
              </a:rPr>
              <a:t>Informieren</a:t>
            </a:r>
            <a:endParaRPr lang="en-DE" sz="1600" b="1">
              <a:solidFill>
                <a:srgbClr val="0B5FA5"/>
              </a:solidFill>
              <a:latin typeface="Trebuchet M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B8BA57-167E-49E6-B29E-52BE966496EE}"/>
              </a:ext>
            </a:extLst>
          </p:cNvPr>
          <p:cNvSpPr txBox="1"/>
          <p:nvPr/>
        </p:nvSpPr>
        <p:spPr>
          <a:xfrm>
            <a:off x="736600" y="2844800"/>
            <a:ext cx="3225800" cy="787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1A2433"/>
                </a:solidFill>
                <a:latin typeface="Segoe UI"/>
                <a:cs typeface="Segoe UI"/>
              </a:rPr>
              <a:t>Anforderungen, NUCLEO-Board, Projektdateien und Schnittstellen geklärt.</a:t>
            </a:r>
            <a:endParaRPr lang="en-DE" sz="1400">
              <a:solidFill>
                <a:srgbClr val="1A2433"/>
              </a:solidFill>
              <a:latin typeface="Segoe UI"/>
              <a:cs typeface="Segoe UI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719BEEA-B504-468D-BB93-8E6E95C3DC5D}"/>
              </a:ext>
            </a:extLst>
          </p:cNvPr>
          <p:cNvSpPr/>
          <p:nvPr/>
        </p:nvSpPr>
        <p:spPr>
          <a:xfrm>
            <a:off x="4419600" y="2108200"/>
            <a:ext cx="3657600" cy="1625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E0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DE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61C7F8A-9DF8-4398-AF3D-8F7273917D4B}"/>
              </a:ext>
            </a:extLst>
          </p:cNvPr>
          <p:cNvSpPr/>
          <p:nvPr/>
        </p:nvSpPr>
        <p:spPr>
          <a:xfrm>
            <a:off x="4622800" y="2311400"/>
            <a:ext cx="482600" cy="482600"/>
          </a:xfrm>
          <a:prstGeom prst="ellipse">
            <a:avLst/>
          </a:prstGeom>
          <a:solidFill>
            <a:srgbClr val="0E7C9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DE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38AAF2-E386-43C5-8774-AF1F51E9B007}"/>
              </a:ext>
            </a:extLst>
          </p:cNvPr>
          <p:cNvSpPr txBox="1"/>
          <p:nvPr/>
        </p:nvSpPr>
        <p:spPr>
          <a:xfrm>
            <a:off x="5232400" y="2311400"/>
            <a:ext cx="2667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0E7C9D"/>
                </a:solidFill>
                <a:latin typeface="Trebuchet MS"/>
              </a:rPr>
              <a:t>Planen</a:t>
            </a:r>
            <a:endParaRPr lang="en-DE" sz="1600" b="1">
              <a:solidFill>
                <a:srgbClr val="0E7C9D"/>
              </a:solidFill>
              <a:latin typeface="Trebuchet M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656890-44FF-4C40-AD5B-2DC2245289D0}"/>
              </a:ext>
            </a:extLst>
          </p:cNvPr>
          <p:cNvSpPr txBox="1"/>
          <p:nvPr/>
        </p:nvSpPr>
        <p:spPr>
          <a:xfrm>
            <a:off x="4648200" y="2844800"/>
            <a:ext cx="3225800" cy="787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1A2433"/>
                </a:solidFill>
                <a:latin typeface="Segoe UI"/>
                <a:cs typeface="Segoe UI"/>
              </a:rPr>
              <a:t>Pins, COM1 (115200), Zustandsautomat und README-Aufbau festgelegt.</a:t>
            </a:r>
            <a:endParaRPr lang="en-DE" sz="1400">
              <a:solidFill>
                <a:srgbClr val="1A2433"/>
              </a:solidFill>
              <a:latin typeface="Segoe UI"/>
              <a:cs typeface="Segoe UI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4CE416F-E238-4935-BB83-4038529854D6}"/>
              </a:ext>
            </a:extLst>
          </p:cNvPr>
          <p:cNvSpPr/>
          <p:nvPr/>
        </p:nvSpPr>
        <p:spPr>
          <a:xfrm>
            <a:off x="8331200" y="2108200"/>
            <a:ext cx="3657600" cy="1625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E0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DE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147EF75-0838-4C4F-909D-305C8683EFE1}"/>
              </a:ext>
            </a:extLst>
          </p:cNvPr>
          <p:cNvSpPr/>
          <p:nvPr/>
        </p:nvSpPr>
        <p:spPr>
          <a:xfrm>
            <a:off x="8534400" y="2311400"/>
            <a:ext cx="482600" cy="482600"/>
          </a:xfrm>
          <a:prstGeom prst="ellipse">
            <a:avLst/>
          </a:prstGeom>
          <a:solidFill>
            <a:srgbClr val="B5651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DE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AA2F4D-C678-4123-8529-1B3E71687AB3}"/>
              </a:ext>
            </a:extLst>
          </p:cNvPr>
          <p:cNvSpPr txBox="1"/>
          <p:nvPr/>
        </p:nvSpPr>
        <p:spPr>
          <a:xfrm>
            <a:off x="9144000" y="2311400"/>
            <a:ext cx="2667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E8913A"/>
                </a:solidFill>
                <a:latin typeface="Trebuchet MS"/>
              </a:rPr>
              <a:t>Entscheiden</a:t>
            </a:r>
            <a:endParaRPr lang="en-DE" sz="1600" b="1">
              <a:solidFill>
                <a:srgbClr val="E8913A"/>
              </a:solidFill>
              <a:latin typeface="Trebuchet M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AF4FEE-C254-4E3E-9494-280717E75CEF}"/>
              </a:ext>
            </a:extLst>
          </p:cNvPr>
          <p:cNvSpPr txBox="1"/>
          <p:nvPr/>
        </p:nvSpPr>
        <p:spPr>
          <a:xfrm>
            <a:off x="8559800" y="2844800"/>
            <a:ext cx="3225800" cy="787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1A2433"/>
                </a:solidFill>
                <a:latin typeface="Segoe UI"/>
                <a:cs typeface="Segoe UI"/>
              </a:rPr>
              <a:t>STM32 statt Arduino; JSON beibehalten, A12/A41 als Live-Plätze.</a:t>
            </a:r>
            <a:endParaRPr lang="en-DE" sz="1400">
              <a:solidFill>
                <a:srgbClr val="1A2433"/>
              </a:solidFill>
              <a:latin typeface="Segoe UI"/>
              <a:cs typeface="Segoe UI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65B1D02-DFE2-4C02-B9E9-24EEFE8ABD5C}"/>
              </a:ext>
            </a:extLst>
          </p:cNvPr>
          <p:cNvSpPr/>
          <p:nvPr/>
        </p:nvSpPr>
        <p:spPr>
          <a:xfrm>
            <a:off x="508000" y="3886200"/>
            <a:ext cx="3657600" cy="1625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E0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DE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F9E9927-EBAB-459F-B6B4-E7FC1B138657}"/>
              </a:ext>
            </a:extLst>
          </p:cNvPr>
          <p:cNvSpPr/>
          <p:nvPr/>
        </p:nvSpPr>
        <p:spPr>
          <a:xfrm>
            <a:off x="711200" y="4089400"/>
            <a:ext cx="482600" cy="482600"/>
          </a:xfrm>
          <a:prstGeom prst="ellipse">
            <a:avLst/>
          </a:prstGeom>
          <a:solidFill>
            <a:srgbClr val="1E7E4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DE" b="1">
                <a:solidFill>
                  <a:srgbClr val="FFFFFF"/>
                </a:solidFill>
                <a:latin typeface="Trebuchet MS"/>
              </a:rPr>
              <a:t>4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B80E31-00E3-4F47-BD35-91AF0151FB80}"/>
              </a:ext>
            </a:extLst>
          </p:cNvPr>
          <p:cNvSpPr txBox="1"/>
          <p:nvPr/>
        </p:nvSpPr>
        <p:spPr>
          <a:xfrm>
            <a:off x="1320800" y="4089400"/>
            <a:ext cx="2667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2E9E5B"/>
                </a:solidFill>
                <a:latin typeface="Trebuchet MS"/>
              </a:rPr>
              <a:t>Realisieren</a:t>
            </a:r>
            <a:endParaRPr lang="en-DE" sz="1600" b="1">
              <a:solidFill>
                <a:srgbClr val="2E9E5B"/>
              </a:solidFill>
              <a:latin typeface="Trebuchet M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50B36C-BFE6-4D39-9D09-27739E832AF8}"/>
              </a:ext>
            </a:extLst>
          </p:cNvPr>
          <p:cNvSpPr txBox="1"/>
          <p:nvPr/>
        </p:nvSpPr>
        <p:spPr>
          <a:xfrm>
            <a:off x="736600" y="4622800"/>
            <a:ext cx="3225800" cy="787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1A2433"/>
                </a:solidFill>
                <a:latin typeface="Segoe UI"/>
                <a:cs typeface="Segoe UI"/>
              </a:rPr>
              <a:t>Firmware, Frei-LEDs, UART-Empfang und Web-Dashboard umgesetzt.</a:t>
            </a:r>
            <a:endParaRPr lang="en-DE" sz="1400">
              <a:solidFill>
                <a:srgbClr val="1A2433"/>
              </a:solidFill>
              <a:latin typeface="Segoe UI"/>
              <a:cs typeface="Segoe UI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DDD857F-B5B9-4C09-B73A-A9D26CB469CF}"/>
              </a:ext>
            </a:extLst>
          </p:cNvPr>
          <p:cNvSpPr/>
          <p:nvPr/>
        </p:nvSpPr>
        <p:spPr>
          <a:xfrm>
            <a:off x="4419600" y="3886200"/>
            <a:ext cx="3657600" cy="1625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E0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DE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1E1A12FC-2CAC-4B9D-9BA1-F8EEF11649A3}"/>
              </a:ext>
            </a:extLst>
          </p:cNvPr>
          <p:cNvSpPr/>
          <p:nvPr/>
        </p:nvSpPr>
        <p:spPr>
          <a:xfrm>
            <a:off x="4622800" y="4089400"/>
            <a:ext cx="482600" cy="482600"/>
          </a:xfrm>
          <a:prstGeom prst="ellipse">
            <a:avLst/>
          </a:prstGeom>
          <a:solidFill>
            <a:srgbClr val="0B5FA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DE" b="1">
                <a:solidFill>
                  <a:srgbClr val="FFFFFF"/>
                </a:solidFill>
                <a:latin typeface="Trebuchet MS"/>
              </a:rPr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60F2065-887A-4513-8E30-3F29F757016C}"/>
              </a:ext>
            </a:extLst>
          </p:cNvPr>
          <p:cNvSpPr txBox="1"/>
          <p:nvPr/>
        </p:nvSpPr>
        <p:spPr>
          <a:xfrm>
            <a:off x="5232400" y="4089400"/>
            <a:ext cx="2667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0B5FA5"/>
                </a:solidFill>
                <a:latin typeface="Trebuchet MS"/>
              </a:rPr>
              <a:t>Kontrollieren</a:t>
            </a:r>
            <a:endParaRPr lang="en-DE" sz="1600" b="1">
              <a:solidFill>
                <a:srgbClr val="0B5FA5"/>
              </a:solidFill>
              <a:latin typeface="Trebuchet MS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FD97ECE-404E-4C9A-BC72-483F3A9DD95F}"/>
              </a:ext>
            </a:extLst>
          </p:cNvPr>
          <p:cNvSpPr txBox="1"/>
          <p:nvPr/>
        </p:nvSpPr>
        <p:spPr>
          <a:xfrm>
            <a:off x="4648200" y="4622800"/>
            <a:ext cx="3225800" cy="787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1A2433"/>
                </a:solidFill>
                <a:latin typeface="Segoe UI"/>
                <a:cs typeface="Segoe UI"/>
              </a:rPr>
              <a:t>Sensor-Abdecktests, STATUS und JSON-Events überprüft.</a:t>
            </a:r>
            <a:endParaRPr lang="en-DE" sz="1400">
              <a:solidFill>
                <a:srgbClr val="1A2433"/>
              </a:solidFill>
              <a:latin typeface="Segoe UI"/>
              <a:cs typeface="Segoe UI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C585646-7C9B-4C47-A9D4-8E9D7F30968B}"/>
              </a:ext>
            </a:extLst>
          </p:cNvPr>
          <p:cNvSpPr/>
          <p:nvPr/>
        </p:nvSpPr>
        <p:spPr>
          <a:xfrm>
            <a:off x="8331200" y="3886200"/>
            <a:ext cx="3657600" cy="1625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D6E0E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DE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1C9AB001-01A5-4010-95B6-004CB0FE6430}"/>
              </a:ext>
            </a:extLst>
          </p:cNvPr>
          <p:cNvSpPr/>
          <p:nvPr/>
        </p:nvSpPr>
        <p:spPr>
          <a:xfrm>
            <a:off x="8534400" y="4089400"/>
            <a:ext cx="482600" cy="482600"/>
          </a:xfrm>
          <a:prstGeom prst="ellipse">
            <a:avLst/>
          </a:prstGeom>
          <a:solidFill>
            <a:srgbClr val="0E7C9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DE" b="1">
                <a:solidFill>
                  <a:srgbClr val="FFFFFF"/>
                </a:solidFill>
                <a:latin typeface="Trebuchet MS"/>
              </a:rPr>
              <a:t>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4C0D42-D215-4C14-AA57-02FBA78A3F25}"/>
              </a:ext>
            </a:extLst>
          </p:cNvPr>
          <p:cNvSpPr txBox="1"/>
          <p:nvPr/>
        </p:nvSpPr>
        <p:spPr>
          <a:xfrm>
            <a:off x="9144000" y="4089400"/>
            <a:ext cx="2667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0E7C9D"/>
                </a:solidFill>
                <a:latin typeface="Trebuchet MS"/>
              </a:rPr>
              <a:t>Auswerten</a:t>
            </a:r>
            <a:endParaRPr lang="en-DE" sz="1600" b="1">
              <a:solidFill>
                <a:srgbClr val="0E7C9D"/>
              </a:solidFill>
              <a:latin typeface="Trebuchet M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8A8BDAA-187B-4E9C-AD08-4503CBA9E96C}"/>
              </a:ext>
            </a:extLst>
          </p:cNvPr>
          <p:cNvSpPr txBox="1"/>
          <p:nvPr/>
        </p:nvSpPr>
        <p:spPr>
          <a:xfrm>
            <a:off x="8559800" y="4622800"/>
            <a:ext cx="3225800" cy="787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1A2433"/>
                </a:solidFill>
                <a:latin typeface="Segoe UI"/>
                <a:cs typeface="Segoe UI"/>
              </a:rPr>
              <a:t>Ziel erreicht; Grenzen und mögliche Erweiterungen reflektiert.</a:t>
            </a:r>
            <a:endParaRPr lang="en-DE" sz="1400">
              <a:solidFill>
                <a:srgbClr val="1A2433"/>
              </a:solidFill>
              <a:latin typeface="Segoe UI"/>
              <a:cs typeface="Segoe UI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2F2199F-15C3-4EA7-8405-542803F57CB3}"/>
              </a:ext>
            </a:extLst>
          </p:cNvPr>
          <p:cNvSpPr txBox="1"/>
          <p:nvPr/>
        </p:nvSpPr>
        <p:spPr>
          <a:xfrm>
            <a:off x="508000" y="5740400"/>
            <a:ext cx="1117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i="1">
                <a:solidFill>
                  <a:srgbClr val="6C7A89"/>
                </a:solidFill>
              </a:rPr>
              <a:t>Schüler: Mohammad Dyaa Addin Shami   ·   Ort: Nordhorn KBS   ·   Abgabe: 20.05.2026</a:t>
            </a:r>
            <a:endParaRPr lang="en-DE" sz="1400" i="1">
              <a:solidFill>
                <a:srgbClr val="6C7A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94912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76EE47C-9C63-4234-8CAF-1AB47B265CE0}"/>
              </a:ext>
            </a:extLst>
          </p:cNvPr>
          <p:cNvSpPr/>
          <p:nvPr/>
        </p:nvSpPr>
        <p:spPr>
          <a:xfrm>
            <a:off x="6197600" y="1905000"/>
            <a:ext cx="5486400" cy="3810000"/>
          </a:xfrm>
          <a:prstGeom prst="roundRect">
            <a:avLst/>
          </a:prstGeom>
          <a:solidFill>
            <a:srgbClr val="EDF7F0"/>
          </a:solidFill>
          <a:ln w="12700" cap="flat" cmpd="sng" algn="ctr">
            <a:solidFill>
              <a:srgbClr val="2E9E5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DE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D6D3B75-B6D5-41EC-B9F9-CAD191BAFFED}"/>
              </a:ext>
            </a:extLst>
          </p:cNvPr>
          <p:cNvSpPr/>
          <p:nvPr/>
        </p:nvSpPr>
        <p:spPr>
          <a:xfrm>
            <a:off x="508000" y="1905000"/>
            <a:ext cx="5486400" cy="3810000"/>
          </a:xfrm>
          <a:prstGeom prst="roundRect">
            <a:avLst/>
          </a:prstGeom>
          <a:solidFill>
            <a:srgbClr val="EEF3F8"/>
          </a:solidFill>
          <a:ln w="12700" cap="flat" cmpd="sng" algn="ctr">
            <a:solidFill>
              <a:srgbClr val="0B5FA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10AAC9-5FEE-16A5-F25E-63E1A4169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Ausblick</a:t>
            </a:r>
            <a:r>
              <a:rPr lang="en-US" dirty="0"/>
              <a:t> &amp; </a:t>
            </a:r>
            <a:r>
              <a:rPr lang="en-US"/>
              <a:t>Fazit</a:t>
            </a:r>
            <a:endParaRPr lang="en-DE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EF0DB5-C399-488D-901D-901B5E92C78C}"/>
              </a:ext>
            </a:extLst>
          </p:cNvPr>
          <p:cNvSpPr txBox="1"/>
          <p:nvPr/>
        </p:nvSpPr>
        <p:spPr>
          <a:xfrm>
            <a:off x="787400" y="2108200"/>
            <a:ext cx="49276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0B5FA5"/>
                </a:solidFill>
                <a:latin typeface="Trebuchet MS"/>
              </a:rPr>
              <a:t>Mögliche Erweiterungen</a:t>
            </a:r>
            <a:endParaRPr lang="en-DE" sz="1700" b="1">
              <a:solidFill>
                <a:srgbClr val="0B5FA5"/>
              </a:solidFill>
              <a:latin typeface="Trebuchet M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215077-798B-4DC5-BA5D-155047278D07}"/>
              </a:ext>
            </a:extLst>
          </p:cNvPr>
          <p:cNvSpPr txBox="1"/>
          <p:nvPr/>
        </p:nvSpPr>
        <p:spPr>
          <a:xfrm>
            <a:off x="6477000" y="2108200"/>
            <a:ext cx="49276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700" b="1">
                <a:solidFill>
                  <a:srgbClr val="1E7E45"/>
                </a:solidFill>
                <a:latin typeface="Trebuchet MS"/>
              </a:rPr>
              <a:t>Fazit</a:t>
            </a:r>
            <a:endParaRPr lang="en-DE" sz="1700" b="1">
              <a:solidFill>
                <a:srgbClr val="1E7E45"/>
              </a:solidFill>
              <a:latin typeface="Trebuchet M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348710-9025-49C9-95D2-2FA438C67B68}"/>
              </a:ext>
            </a:extLst>
          </p:cNvPr>
          <p:cNvSpPr txBox="1"/>
          <p:nvPr/>
        </p:nvSpPr>
        <p:spPr>
          <a:xfrm>
            <a:off x="762000" y="2565400"/>
            <a:ext cx="5029200" cy="309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1A2433"/>
                </a:solidFill>
                <a:latin typeface="Segoe UI"/>
                <a:cs typeface="Segoe UI"/>
              </a:rPr>
              <a:t>•  Weitere Parkplätze als echte Sensoren anschließen
•  Sensorabfrage nicht blockierend (Timer/Interrupts)
•  Alle Plätze live vom Controller ins Dashboard
•  Konfigurierbare Platznamen statt fester A12/A41
•  Ereignisse mit echter Uhrzeit (RTC) speichern
•  Daten an Server, MQTT-Broker oder Datenbank
•  Sensorfehler-Erkennung &amp; robusteres Gehäuse</a:t>
            </a:r>
            <a:endParaRPr lang="en-DE" sz="1400">
              <a:solidFill>
                <a:srgbClr val="1A2433"/>
              </a:solidFill>
              <a:latin typeface="Segoe UI"/>
              <a:cs typeface="Segoe U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0F7F30-ADD5-486D-B0D6-2DA23FE819C3}"/>
              </a:ext>
            </a:extLst>
          </p:cNvPr>
          <p:cNvSpPr txBox="1"/>
          <p:nvPr/>
        </p:nvSpPr>
        <p:spPr>
          <a:xfrm>
            <a:off x="6451600" y="2565400"/>
            <a:ext cx="5029200" cy="309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de-DE" sz="1400">
                <a:solidFill>
                  <a:srgbClr val="1A2433"/>
                </a:solidFill>
                <a:latin typeface="Segoe UI"/>
                <a:cs typeface="Segoe UI"/>
              </a:rPr>
              <a:t>•  Der Prototyp macht das Zusammenspiel von Sensorik, Mikrocontroller und Oberfläche transparent.
•  Bewusste Grenzen: nur zwei echte Plätze und einfache digitale Belegung.
•  Der kurzfristige Wechsel auf STM32 (verspätete Arduino-Lieferung) brachte ein tieferes Embedded-Verständnis.
•  Insgesamt ein gut geeigneter Lern- und Demonstrationsaufbau.</a:t>
            </a:r>
            <a:endParaRPr lang="en-DE" sz="1400">
              <a:solidFill>
                <a:srgbClr val="1A2433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3370166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1065829401]">
  <a:themeElements>
    <a:clrScheme name="Office">
      <a:dk1>
        <a:srgbClr val="1A2433"/>
      </a:dk1>
      <a:lt1>
        <a:srgbClr val="FFFFFF"/>
      </a:lt1>
      <a:dk2>
        <a:srgbClr val="33414F"/>
      </a:dk2>
      <a:lt2>
        <a:srgbClr val="EEF3F8"/>
      </a:lt2>
      <a:accent1>
        <a:srgbClr val="0B5FA5"/>
      </a:accent1>
      <a:accent2>
        <a:srgbClr val="2E9E5B"/>
      </a:accent2>
      <a:accent3>
        <a:srgbClr val="D64545"/>
      </a:accent3>
      <a:accent4>
        <a:srgbClr val="E8913A"/>
      </a:accent4>
      <a:accent5>
        <a:srgbClr val="0E7C9D"/>
      </a:accent5>
      <a:accent6>
        <a:srgbClr val="6C7A89"/>
      </a:accent6>
      <a:hlink>
        <a:srgbClr val="467886"/>
      </a:hlink>
      <a:folHlink>
        <a:srgbClr val="96607D"/>
      </a:folHlink>
    </a:clrScheme>
    <a:fontScheme name="Office">
      <a:majorFont>
        <a:latin typeface="Trebuchet MS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41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16ABD9D-9C0D-4AE3-923C-8E597547DDCB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b824b321-6ecb-47f3-a86e-779e9f4cdb0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1535</Words>
  <Application>Microsoft Office PowerPoint</Application>
  <PresentationFormat>Widescreen</PresentationFormat>
  <Paragraphs>201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Consolas</vt:lpstr>
      <vt:lpstr>Segoe UI</vt:lpstr>
      <vt:lpstr>Trebuchet MS</vt:lpstr>
      <vt:lpstr>Office Theme [1781065829401]</vt:lpstr>
      <vt:lpstr>Parking Station</vt:lpstr>
      <vt:lpstr>Projektziel</vt:lpstr>
      <vt:lpstr>Handlungsergebnis</vt:lpstr>
      <vt:lpstr>Das Modell – Aufbau aus Karton</vt:lpstr>
      <vt:lpstr>Hardware-Komponenten</vt:lpstr>
      <vt:lpstr>Funktionsprinzip der Sensoren</vt:lpstr>
      <vt:lpstr>Pinbelegung</vt:lpstr>
      <vt:lpstr>Schaltplan / Verdrahtung</vt:lpstr>
      <vt:lpstr>Firmware-Ablauf: Zustandsautomat &amp; 3-Sekunden-Regel</vt:lpstr>
      <vt:lpstr>Serielles Protokoll</vt:lpstr>
      <vt:lpstr>Web-Dashboard</vt:lpstr>
      <vt:lpstr>Verbindung herstellen</vt:lpstr>
      <vt:lpstr>Test &amp; Kontrolle</vt:lpstr>
      <vt:lpstr>Sensordefekt &amp; Austausch</vt:lpstr>
      <vt:lpstr>Grenzen: Schulprojekt vs. realer Betrieb</vt:lpstr>
      <vt:lpstr>Projektarbeit nach IPERKA (6 Phasen)</vt:lpstr>
      <vt:lpstr>Ausblick &amp; Fazit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Mohammad Shami</dc:creator>
  <cp:lastModifiedBy>Mohammad Shami</cp:lastModifiedBy>
  <cp:revision>4</cp:revision>
  <dcterms:created xsi:type="dcterms:W3CDTF">2026-06-10T04:17:12Z</dcterms:created>
  <dcterms:modified xsi:type="dcterms:W3CDTF">2026-06-10T05:05:01Z</dcterms:modified>
</cp:coreProperties>
</file>